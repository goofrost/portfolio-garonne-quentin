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74" r:id="rId2"/>
    <p:sldId id="275" r:id="rId3"/>
    <p:sldId id="276" r:id="rId4"/>
    <p:sldId id="280" r:id="rId5"/>
    <p:sldId id="277" r:id="rId6"/>
    <p:sldId id="278" r:id="rId7"/>
    <p:sldId id="279" r:id="rId8"/>
    <p:sldId id="256" r:id="rId9"/>
    <p:sldId id="257" r:id="rId10"/>
    <p:sldId id="258" r:id="rId11"/>
    <p:sldId id="259" r:id="rId12"/>
    <p:sldId id="260" r:id="rId13"/>
    <p:sldId id="262" r:id="rId14"/>
    <p:sldId id="269" r:id="rId15"/>
    <p:sldId id="270" r:id="rId16"/>
    <p:sldId id="272" r:id="rId17"/>
    <p:sldId id="273" r:id="rId18"/>
    <p:sldId id="263" r:id="rId19"/>
    <p:sldId id="264" r:id="rId20"/>
    <p:sldId id="265" r:id="rId21"/>
    <p:sldId id="281" r:id="rId22"/>
    <p:sldId id="282" r:id="rId23"/>
    <p:sldId id="283" r:id="rId24"/>
    <p:sldId id="266" r:id="rId25"/>
    <p:sldId id="284" r:id="rId26"/>
    <p:sldId id="285" r:id="rId27"/>
    <p:sldId id="267" r:id="rId28"/>
    <p:sldId id="268" r:id="rId29"/>
    <p:sldId id="286" r:id="rId30"/>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6" autoAdjust="0"/>
    <p:restoredTop sz="94660"/>
  </p:normalViewPr>
  <p:slideViewPr>
    <p:cSldViewPr snapToGrid="0">
      <p:cViewPr varScale="1">
        <p:scale>
          <a:sx n="83" d="100"/>
          <a:sy n="83" d="100"/>
        </p:scale>
        <p:origin x="390"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879B57-9D8D-4A64-9F4A-1323B72F8CD7}" type="datetimeFigureOut">
              <a:rPr lang="fr-FR" smtClean="0"/>
              <a:t>05/12/2024</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5A68B9-E0D8-4229-A721-4699BC608962}" type="slidenum">
              <a:rPr lang="fr-FR" smtClean="0"/>
              <a:t>‹N°›</a:t>
            </a:fld>
            <a:endParaRPr lang="fr-FR"/>
          </a:p>
        </p:txBody>
      </p:sp>
    </p:spTree>
    <p:extLst>
      <p:ext uri="{BB962C8B-B14F-4D97-AF65-F5344CB8AC3E}">
        <p14:creationId xmlns:p14="http://schemas.microsoft.com/office/powerpoint/2010/main" val="2946657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Imagine </a:t>
            </a:r>
            <a:r>
              <a:rPr lang="fr-FR" dirty="0" err="1"/>
              <a:t>having</a:t>
            </a:r>
            <a:r>
              <a:rPr lang="fr-FR" dirty="0"/>
              <a:t> </a:t>
            </a:r>
            <a:r>
              <a:rPr lang="fr-FR" dirty="0" err="1"/>
              <a:t>access</a:t>
            </a:r>
            <a:r>
              <a:rPr lang="fr-FR" dirty="0"/>
              <a:t> to</a:t>
            </a:r>
          </a:p>
        </p:txBody>
      </p:sp>
      <p:sp>
        <p:nvSpPr>
          <p:cNvPr id="4" name="Espace réservé du numéro de diapositive 3"/>
          <p:cNvSpPr>
            <a:spLocks noGrp="1"/>
          </p:cNvSpPr>
          <p:nvPr>
            <p:ph type="sldNum" sz="quarter" idx="5"/>
          </p:nvPr>
        </p:nvSpPr>
        <p:spPr/>
        <p:txBody>
          <a:bodyPr/>
          <a:lstStyle/>
          <a:p>
            <a:fld id="{D95A68B9-E0D8-4229-A721-4699BC608962}" type="slidenum">
              <a:rPr lang="fr-FR" smtClean="0"/>
              <a:t>5</a:t>
            </a:fld>
            <a:endParaRPr lang="fr-FR"/>
          </a:p>
        </p:txBody>
      </p:sp>
    </p:spTree>
    <p:extLst>
      <p:ext uri="{BB962C8B-B14F-4D97-AF65-F5344CB8AC3E}">
        <p14:creationId xmlns:p14="http://schemas.microsoft.com/office/powerpoint/2010/main" val="36837687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having access to fresh, organic produce year-round</a:t>
            </a:r>
            <a:endParaRPr lang="fr-FR" dirty="0"/>
          </a:p>
        </p:txBody>
      </p:sp>
      <p:sp>
        <p:nvSpPr>
          <p:cNvPr id="4" name="Espace réservé du numéro de diapositive 3"/>
          <p:cNvSpPr>
            <a:spLocks noGrp="1"/>
          </p:cNvSpPr>
          <p:nvPr>
            <p:ph type="sldNum" sz="quarter" idx="5"/>
          </p:nvPr>
        </p:nvSpPr>
        <p:spPr/>
        <p:txBody>
          <a:bodyPr/>
          <a:lstStyle/>
          <a:p>
            <a:fld id="{D95A68B9-E0D8-4229-A721-4699BC608962}" type="slidenum">
              <a:rPr lang="fr-FR" smtClean="0"/>
              <a:t>6</a:t>
            </a:fld>
            <a:endParaRPr lang="fr-FR"/>
          </a:p>
        </p:txBody>
      </p:sp>
    </p:spTree>
    <p:extLst>
      <p:ext uri="{BB962C8B-B14F-4D97-AF65-F5344CB8AC3E}">
        <p14:creationId xmlns:p14="http://schemas.microsoft.com/office/powerpoint/2010/main" val="36967934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regardless of weather or season</a:t>
            </a:r>
            <a:endParaRPr lang="fr-FR" dirty="0"/>
          </a:p>
        </p:txBody>
      </p:sp>
      <p:sp>
        <p:nvSpPr>
          <p:cNvPr id="4" name="Espace réservé du numéro de diapositive 3"/>
          <p:cNvSpPr>
            <a:spLocks noGrp="1"/>
          </p:cNvSpPr>
          <p:nvPr>
            <p:ph type="sldNum" sz="quarter" idx="5"/>
          </p:nvPr>
        </p:nvSpPr>
        <p:spPr/>
        <p:txBody>
          <a:bodyPr/>
          <a:lstStyle/>
          <a:p>
            <a:fld id="{D95A68B9-E0D8-4229-A721-4699BC608962}" type="slidenum">
              <a:rPr lang="fr-FR" smtClean="0"/>
              <a:t>7</a:t>
            </a:fld>
            <a:endParaRPr lang="fr-FR"/>
          </a:p>
        </p:txBody>
      </p:sp>
    </p:spTree>
    <p:extLst>
      <p:ext uri="{BB962C8B-B14F-4D97-AF65-F5344CB8AC3E}">
        <p14:creationId xmlns:p14="http://schemas.microsoft.com/office/powerpoint/2010/main" val="28232241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Today, we're introducing the </a:t>
            </a:r>
            <a:r>
              <a:rPr lang="en-US" dirty="0" err="1"/>
              <a:t>BioSync</a:t>
            </a:r>
            <a:r>
              <a:rPr lang="en-US" dirty="0"/>
              <a:t> Smart Garden, a revolutionary solution that transforms how we grow food at home</a:t>
            </a:r>
            <a:endParaRPr lang="fr-FR" dirty="0"/>
          </a:p>
        </p:txBody>
      </p:sp>
      <p:sp>
        <p:nvSpPr>
          <p:cNvPr id="4" name="Espace réservé du numéro de diapositive 3"/>
          <p:cNvSpPr>
            <a:spLocks noGrp="1"/>
          </p:cNvSpPr>
          <p:nvPr>
            <p:ph type="sldNum" sz="quarter" idx="5"/>
          </p:nvPr>
        </p:nvSpPr>
        <p:spPr/>
        <p:txBody>
          <a:bodyPr/>
          <a:lstStyle/>
          <a:p>
            <a:fld id="{D95A68B9-E0D8-4229-A721-4699BC608962}" type="slidenum">
              <a:rPr lang="fr-FR" smtClean="0"/>
              <a:t>8</a:t>
            </a:fld>
            <a:endParaRPr lang="fr-FR"/>
          </a:p>
        </p:txBody>
      </p:sp>
    </p:spTree>
    <p:extLst>
      <p:ext uri="{BB962C8B-B14F-4D97-AF65-F5344CB8AC3E}">
        <p14:creationId xmlns:p14="http://schemas.microsoft.com/office/powerpoint/2010/main" val="39986026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b="0" i="0" dirty="0">
                <a:effectLst/>
                <a:latin typeface="gg sans"/>
              </a:rPr>
              <a:t>Technology Overview The </a:t>
            </a:r>
            <a:r>
              <a:rPr lang="en-US" b="0" i="0" dirty="0" err="1">
                <a:effectLst/>
                <a:latin typeface="gg sans"/>
              </a:rPr>
              <a:t>BioSync</a:t>
            </a:r>
            <a:r>
              <a:rPr lang="en-US" b="0" i="0" dirty="0">
                <a:effectLst/>
                <a:latin typeface="gg sans"/>
              </a:rPr>
              <a:t> Smart Garden combines advanced technologies to simplify and enhance indoor farming.</a:t>
            </a:r>
            <a:endParaRPr lang="fr-FR" dirty="0"/>
          </a:p>
        </p:txBody>
      </p:sp>
      <p:sp>
        <p:nvSpPr>
          <p:cNvPr id="4" name="Espace réservé du numéro de diapositive 3"/>
          <p:cNvSpPr>
            <a:spLocks noGrp="1"/>
          </p:cNvSpPr>
          <p:nvPr>
            <p:ph type="sldNum" sz="quarter" idx="5"/>
          </p:nvPr>
        </p:nvSpPr>
        <p:spPr/>
        <p:txBody>
          <a:bodyPr/>
          <a:lstStyle/>
          <a:p>
            <a:fld id="{D95A68B9-E0D8-4229-A721-4699BC608962}" type="slidenum">
              <a:rPr lang="fr-FR" smtClean="0"/>
              <a:t>10</a:t>
            </a:fld>
            <a:endParaRPr lang="fr-FR"/>
          </a:p>
        </p:txBody>
      </p:sp>
    </p:spTree>
    <p:extLst>
      <p:ext uri="{BB962C8B-B14F-4D97-AF65-F5344CB8AC3E}">
        <p14:creationId xmlns:p14="http://schemas.microsoft.com/office/powerpoint/2010/main" val="16937717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b="0" i="0" dirty="0">
                <a:effectLst/>
                <a:latin typeface="gg sans"/>
              </a:rPr>
              <a:t>Its AI-powered plant monitoring ensures optimal growth conditions, while the vertical hydroponic system maximizes space efficiency. </a:t>
            </a:r>
            <a:endParaRPr lang="fr-FR" dirty="0"/>
          </a:p>
        </p:txBody>
      </p:sp>
      <p:sp>
        <p:nvSpPr>
          <p:cNvPr id="4" name="Espace réservé du numéro de diapositive 3"/>
          <p:cNvSpPr>
            <a:spLocks noGrp="1"/>
          </p:cNvSpPr>
          <p:nvPr>
            <p:ph type="sldNum" sz="quarter" idx="5"/>
          </p:nvPr>
        </p:nvSpPr>
        <p:spPr/>
        <p:txBody>
          <a:bodyPr/>
          <a:lstStyle/>
          <a:p>
            <a:fld id="{D95A68B9-E0D8-4229-A721-4699BC608962}" type="slidenum">
              <a:rPr lang="fr-FR" smtClean="0"/>
              <a:t>11</a:t>
            </a:fld>
            <a:endParaRPr lang="fr-FR"/>
          </a:p>
        </p:txBody>
      </p:sp>
    </p:spTree>
    <p:extLst>
      <p:ext uri="{BB962C8B-B14F-4D97-AF65-F5344CB8AC3E}">
        <p14:creationId xmlns:p14="http://schemas.microsoft.com/office/powerpoint/2010/main" val="9823922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b="0" i="0" dirty="0">
                <a:effectLst/>
                <a:latin typeface="gg sans"/>
              </a:rPr>
              <a:t>The smart climate control system and bioactive soil enhancement create a perfect environment for plants, and the integrated </a:t>
            </a:r>
            <a:r>
              <a:rPr lang="en-US" b="0" i="0" dirty="0" err="1">
                <a:effectLst/>
                <a:latin typeface="gg sans"/>
              </a:rPr>
              <a:t>BioSync</a:t>
            </a:r>
            <a:r>
              <a:rPr lang="en-US" b="0" i="0" dirty="0">
                <a:effectLst/>
                <a:latin typeface="gg sans"/>
              </a:rPr>
              <a:t> app provides real-time monitoring, analytics, and a connected community for users.</a:t>
            </a:r>
            <a:endParaRPr lang="fr-FR" dirty="0"/>
          </a:p>
        </p:txBody>
      </p:sp>
      <p:sp>
        <p:nvSpPr>
          <p:cNvPr id="4" name="Espace réservé du numéro de diapositive 3"/>
          <p:cNvSpPr>
            <a:spLocks noGrp="1"/>
          </p:cNvSpPr>
          <p:nvPr>
            <p:ph type="sldNum" sz="quarter" idx="5"/>
          </p:nvPr>
        </p:nvSpPr>
        <p:spPr/>
        <p:txBody>
          <a:bodyPr/>
          <a:lstStyle/>
          <a:p>
            <a:fld id="{D95A68B9-E0D8-4229-A721-4699BC608962}" type="slidenum">
              <a:rPr lang="fr-FR" smtClean="0"/>
              <a:t>12</a:t>
            </a:fld>
            <a:endParaRPr lang="fr-FR"/>
          </a:p>
        </p:txBody>
      </p:sp>
    </p:spTree>
    <p:extLst>
      <p:ext uri="{BB962C8B-B14F-4D97-AF65-F5344CB8AC3E}">
        <p14:creationId xmlns:p14="http://schemas.microsoft.com/office/powerpoint/2010/main" val="33394612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0" i="0" dirty="0">
                <a:effectLst/>
                <a:latin typeface="gg sans"/>
              </a:rPr>
              <a:t>AI Automation: Manages </a:t>
            </a:r>
            <a:r>
              <a:rPr lang="fr-FR" b="0" i="0" dirty="0" err="1">
                <a:effectLst/>
                <a:latin typeface="gg sans"/>
              </a:rPr>
              <a:t>growing</a:t>
            </a:r>
            <a:r>
              <a:rPr lang="fr-FR" b="0" i="0" dirty="0">
                <a:effectLst/>
                <a:latin typeface="gg sans"/>
              </a:rPr>
              <a:t> conditions, </a:t>
            </a:r>
            <a:r>
              <a:rPr lang="fr-FR" b="0" i="0" dirty="0" err="1">
                <a:effectLst/>
                <a:latin typeface="gg sans"/>
              </a:rPr>
              <a:t>nutrient</a:t>
            </a:r>
            <a:r>
              <a:rPr lang="fr-FR" b="0" i="0" dirty="0">
                <a:effectLst/>
                <a:latin typeface="gg sans"/>
              </a:rPr>
              <a:t> </a:t>
            </a:r>
            <a:r>
              <a:rPr lang="fr-FR" b="0" i="0" dirty="0" err="1">
                <a:effectLst/>
                <a:latin typeface="gg sans"/>
              </a:rPr>
              <a:t>delivery</a:t>
            </a:r>
            <a:r>
              <a:rPr lang="fr-FR" b="0" i="0" dirty="0">
                <a:effectLst/>
                <a:latin typeface="gg sans"/>
              </a:rPr>
              <a:t>, and maintenance.</a:t>
            </a:r>
            <a:endParaRPr lang="fr-FR" dirty="0"/>
          </a:p>
        </p:txBody>
      </p:sp>
      <p:sp>
        <p:nvSpPr>
          <p:cNvPr id="4" name="Espace réservé du numéro de diapositive 3"/>
          <p:cNvSpPr>
            <a:spLocks noGrp="1"/>
          </p:cNvSpPr>
          <p:nvPr>
            <p:ph type="sldNum" sz="quarter" idx="5"/>
          </p:nvPr>
        </p:nvSpPr>
        <p:spPr/>
        <p:txBody>
          <a:bodyPr/>
          <a:lstStyle/>
          <a:p>
            <a:fld id="{D95A68B9-E0D8-4229-A721-4699BC608962}" type="slidenum">
              <a:rPr lang="fr-FR" smtClean="0"/>
              <a:t>14</a:t>
            </a:fld>
            <a:endParaRPr lang="fr-FR"/>
          </a:p>
        </p:txBody>
      </p:sp>
    </p:spTree>
    <p:extLst>
      <p:ext uri="{BB962C8B-B14F-4D97-AF65-F5344CB8AC3E}">
        <p14:creationId xmlns:p14="http://schemas.microsoft.com/office/powerpoint/2010/main" val="27027639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b="0" i="0" dirty="0">
                <a:effectLst/>
                <a:latin typeface="gg sans"/>
              </a:rPr>
              <a:t>Compact Design: Accommodates 36 plants in only 1.44m² of floor space.</a:t>
            </a:r>
            <a:endParaRPr lang="fr-FR" dirty="0"/>
          </a:p>
        </p:txBody>
      </p:sp>
      <p:sp>
        <p:nvSpPr>
          <p:cNvPr id="4" name="Espace réservé du numéro de diapositive 3"/>
          <p:cNvSpPr>
            <a:spLocks noGrp="1"/>
          </p:cNvSpPr>
          <p:nvPr>
            <p:ph type="sldNum" sz="quarter" idx="5"/>
          </p:nvPr>
        </p:nvSpPr>
        <p:spPr/>
        <p:txBody>
          <a:bodyPr/>
          <a:lstStyle/>
          <a:p>
            <a:fld id="{D95A68B9-E0D8-4229-A721-4699BC608962}" type="slidenum">
              <a:rPr lang="fr-FR" smtClean="0"/>
              <a:t>15</a:t>
            </a:fld>
            <a:endParaRPr lang="fr-FR"/>
          </a:p>
        </p:txBody>
      </p:sp>
    </p:spTree>
    <p:extLst>
      <p:ext uri="{BB962C8B-B14F-4D97-AF65-F5344CB8AC3E}">
        <p14:creationId xmlns:p14="http://schemas.microsoft.com/office/powerpoint/2010/main" val="35109228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b="0" i="0" dirty="0">
                <a:effectLst/>
                <a:latin typeface="gg sans"/>
              </a:rPr>
              <a:t>Smart Connectivity: Wi-Fi/Bluetooth-enabled control unit and mobile app integration.</a:t>
            </a:r>
            <a:endParaRPr lang="fr-FR" dirty="0"/>
          </a:p>
        </p:txBody>
      </p:sp>
      <p:sp>
        <p:nvSpPr>
          <p:cNvPr id="4" name="Espace réservé du numéro de diapositive 3"/>
          <p:cNvSpPr>
            <a:spLocks noGrp="1"/>
          </p:cNvSpPr>
          <p:nvPr>
            <p:ph type="sldNum" sz="quarter" idx="5"/>
          </p:nvPr>
        </p:nvSpPr>
        <p:spPr/>
        <p:txBody>
          <a:bodyPr/>
          <a:lstStyle/>
          <a:p>
            <a:fld id="{D95A68B9-E0D8-4229-A721-4699BC608962}" type="slidenum">
              <a:rPr lang="fr-FR" smtClean="0"/>
              <a:t>16</a:t>
            </a:fld>
            <a:endParaRPr lang="fr-FR"/>
          </a:p>
        </p:txBody>
      </p:sp>
    </p:spTree>
    <p:extLst>
      <p:ext uri="{BB962C8B-B14F-4D97-AF65-F5344CB8AC3E}">
        <p14:creationId xmlns:p14="http://schemas.microsoft.com/office/powerpoint/2010/main" val="40691382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b="0" i="0" dirty="0">
                <a:effectLst/>
                <a:latin typeface="gg sans"/>
              </a:rPr>
              <a:t>User-Friendly Interface: 7" touchscreen for easy operation and monitoring</a:t>
            </a:r>
            <a:endParaRPr lang="fr-FR" dirty="0"/>
          </a:p>
        </p:txBody>
      </p:sp>
      <p:sp>
        <p:nvSpPr>
          <p:cNvPr id="4" name="Espace réservé du numéro de diapositive 3"/>
          <p:cNvSpPr>
            <a:spLocks noGrp="1"/>
          </p:cNvSpPr>
          <p:nvPr>
            <p:ph type="sldNum" sz="quarter" idx="5"/>
          </p:nvPr>
        </p:nvSpPr>
        <p:spPr/>
        <p:txBody>
          <a:bodyPr/>
          <a:lstStyle/>
          <a:p>
            <a:fld id="{D95A68B9-E0D8-4229-A721-4699BC608962}" type="slidenum">
              <a:rPr lang="fr-FR" smtClean="0"/>
              <a:t>17</a:t>
            </a:fld>
            <a:endParaRPr lang="fr-FR"/>
          </a:p>
        </p:txBody>
      </p:sp>
    </p:spTree>
    <p:extLst>
      <p:ext uri="{BB962C8B-B14F-4D97-AF65-F5344CB8AC3E}">
        <p14:creationId xmlns:p14="http://schemas.microsoft.com/office/powerpoint/2010/main" val="17023151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b="0" i="0" dirty="0" err="1">
                <a:effectLst/>
                <a:latin typeface="gg sans"/>
              </a:rPr>
              <a:t>BioSync</a:t>
            </a:r>
            <a:r>
              <a:rPr lang="en-US" b="0" i="0" dirty="0">
                <a:effectLst/>
                <a:latin typeface="gg sans"/>
              </a:rPr>
              <a:t> not only offers personal benefits and technological improvements, but also represents sustainable food production and environmental responsibility. </a:t>
            </a:r>
            <a:br>
              <a:rPr lang="en-US" b="0" i="0" dirty="0">
                <a:effectLst/>
                <a:latin typeface="gg sans"/>
              </a:rPr>
            </a:br>
            <a:r>
              <a:rPr lang="en-US" b="0" i="0" dirty="0">
                <a:effectLst/>
                <a:latin typeface="gg sans"/>
              </a:rPr>
              <a:t>By using 95% less water than traditional farming methods, it helps preserve the water of our planet. </a:t>
            </a:r>
            <a:endParaRPr lang="fr-FR" dirty="0"/>
          </a:p>
        </p:txBody>
      </p:sp>
      <p:sp>
        <p:nvSpPr>
          <p:cNvPr id="4" name="Espace réservé du numéro de diapositive 3"/>
          <p:cNvSpPr>
            <a:spLocks noGrp="1"/>
          </p:cNvSpPr>
          <p:nvPr>
            <p:ph type="sldNum" sz="quarter" idx="5"/>
          </p:nvPr>
        </p:nvSpPr>
        <p:spPr/>
        <p:txBody>
          <a:bodyPr/>
          <a:lstStyle/>
          <a:p>
            <a:fld id="{D95A68B9-E0D8-4229-A721-4699BC608962}" type="slidenum">
              <a:rPr lang="fr-FR" smtClean="0"/>
              <a:t>21</a:t>
            </a:fld>
            <a:endParaRPr lang="fr-FR"/>
          </a:p>
        </p:txBody>
      </p:sp>
    </p:spTree>
    <p:extLst>
      <p:ext uri="{BB962C8B-B14F-4D97-AF65-F5344CB8AC3E}">
        <p14:creationId xmlns:p14="http://schemas.microsoft.com/office/powerpoint/2010/main" val="24339934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b="0" i="0" dirty="0">
                <a:effectLst/>
                <a:latin typeface="gg sans"/>
              </a:rPr>
              <a:t>Also, </a:t>
            </a:r>
            <a:r>
              <a:rPr lang="en-US" b="0" i="0" dirty="0" err="1">
                <a:effectLst/>
                <a:latin typeface="gg sans"/>
              </a:rPr>
              <a:t>BioSync</a:t>
            </a:r>
            <a:r>
              <a:rPr lang="en-US" b="0" i="0" dirty="0">
                <a:effectLst/>
                <a:latin typeface="gg sans"/>
              </a:rPr>
              <a:t> do not need pesticides, and so the produce grown is both safe and free from chemicals. Growing food indoors reduces the need for long-distance transportation, cutting down on carbon emissions.</a:t>
            </a:r>
            <a:endParaRPr lang="fr-FR" dirty="0"/>
          </a:p>
        </p:txBody>
      </p:sp>
      <p:sp>
        <p:nvSpPr>
          <p:cNvPr id="4" name="Espace réservé du numéro de diapositive 3"/>
          <p:cNvSpPr>
            <a:spLocks noGrp="1"/>
          </p:cNvSpPr>
          <p:nvPr>
            <p:ph type="sldNum" sz="quarter" idx="5"/>
          </p:nvPr>
        </p:nvSpPr>
        <p:spPr/>
        <p:txBody>
          <a:bodyPr/>
          <a:lstStyle/>
          <a:p>
            <a:fld id="{D95A68B9-E0D8-4229-A721-4699BC608962}" type="slidenum">
              <a:rPr lang="fr-FR" smtClean="0"/>
              <a:t>22</a:t>
            </a:fld>
            <a:endParaRPr lang="fr-FR"/>
          </a:p>
        </p:txBody>
      </p:sp>
    </p:spTree>
    <p:extLst>
      <p:ext uri="{BB962C8B-B14F-4D97-AF65-F5344CB8AC3E}">
        <p14:creationId xmlns:p14="http://schemas.microsoft.com/office/powerpoint/2010/main" val="3520011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b="0" i="0" dirty="0">
                <a:effectLst/>
                <a:latin typeface="gg sans"/>
              </a:rPr>
              <a:t>Through vertical farming, </a:t>
            </a:r>
            <a:r>
              <a:rPr lang="en-US" b="0" i="0" dirty="0" err="1">
                <a:effectLst/>
                <a:latin typeface="gg sans"/>
              </a:rPr>
              <a:t>BioSync</a:t>
            </a:r>
            <a:r>
              <a:rPr lang="en-US" b="0" i="0" dirty="0">
                <a:effectLst/>
                <a:latin typeface="gg sans"/>
              </a:rPr>
              <a:t> optimizes land usage, making it a solution that minimizes environmental impact while providing fresh, organic food. </a:t>
            </a:r>
            <a:endParaRPr lang="fr-FR" dirty="0"/>
          </a:p>
        </p:txBody>
      </p:sp>
      <p:sp>
        <p:nvSpPr>
          <p:cNvPr id="4" name="Espace réservé du numéro de diapositive 3"/>
          <p:cNvSpPr>
            <a:spLocks noGrp="1"/>
          </p:cNvSpPr>
          <p:nvPr>
            <p:ph type="sldNum" sz="quarter" idx="5"/>
          </p:nvPr>
        </p:nvSpPr>
        <p:spPr/>
        <p:txBody>
          <a:bodyPr/>
          <a:lstStyle/>
          <a:p>
            <a:fld id="{D95A68B9-E0D8-4229-A721-4699BC608962}" type="slidenum">
              <a:rPr lang="fr-FR" smtClean="0"/>
              <a:t>23</a:t>
            </a:fld>
            <a:endParaRPr lang="fr-FR"/>
          </a:p>
        </p:txBody>
      </p:sp>
    </p:spTree>
    <p:extLst>
      <p:ext uri="{BB962C8B-B14F-4D97-AF65-F5344CB8AC3E}">
        <p14:creationId xmlns:p14="http://schemas.microsoft.com/office/powerpoint/2010/main" val="6673268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b="0" i="0" dirty="0">
                <a:effectLst/>
                <a:latin typeface="gg sans"/>
              </a:rPr>
              <a:t>Part 1 : Price Breakdown So the </a:t>
            </a:r>
            <a:r>
              <a:rPr lang="en-US" b="0" i="0" dirty="0" err="1">
                <a:effectLst/>
                <a:latin typeface="gg sans"/>
              </a:rPr>
              <a:t>BioSync</a:t>
            </a:r>
            <a:r>
              <a:rPr lang="en-US" b="0" i="0" dirty="0">
                <a:effectLst/>
                <a:latin typeface="gg sans"/>
              </a:rPr>
              <a:t> Smart Garden has a manufacturing cost of $1600, an operation cost of $100 and with a retail price of $3000, which means that it has a gross margin of around 46,6% . Which means that this product is a very good investment for investors looking for a safe, reliable and profitable investment. However, it is also a really good investment for the customers because we offer a free two-year warranty and premium support with free app updates! Moreover, this product is so good and so efficient that the savings you make on groceries will make it pay for itself in just 18 months for a family of four! With its balance of value and affordability, this revolutionary home farming solution makes itself a very attractive product in the market!</a:t>
            </a:r>
            <a:endParaRPr lang="fr-FR" dirty="0"/>
          </a:p>
        </p:txBody>
      </p:sp>
      <p:sp>
        <p:nvSpPr>
          <p:cNvPr id="4" name="Espace réservé du numéro de diapositive 3"/>
          <p:cNvSpPr>
            <a:spLocks noGrp="1"/>
          </p:cNvSpPr>
          <p:nvPr>
            <p:ph type="sldNum" sz="quarter" idx="5"/>
          </p:nvPr>
        </p:nvSpPr>
        <p:spPr/>
        <p:txBody>
          <a:bodyPr/>
          <a:lstStyle/>
          <a:p>
            <a:fld id="{D95A68B9-E0D8-4229-A721-4699BC608962}" type="slidenum">
              <a:rPr lang="fr-FR" smtClean="0"/>
              <a:t>25</a:t>
            </a:fld>
            <a:endParaRPr lang="fr-FR"/>
          </a:p>
        </p:txBody>
      </p:sp>
    </p:spTree>
    <p:extLst>
      <p:ext uri="{BB962C8B-B14F-4D97-AF65-F5344CB8AC3E}">
        <p14:creationId xmlns:p14="http://schemas.microsoft.com/office/powerpoint/2010/main" val="36085758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000000"/>
                </a:solidFill>
                <a:effectLst/>
                <a:latin typeface="inherit"/>
              </a:rPr>
              <a:t>Part 2: market position The </a:t>
            </a:r>
            <a:r>
              <a:rPr lang="en-US" b="0" i="0" dirty="0" err="1">
                <a:solidFill>
                  <a:srgbClr val="000000"/>
                </a:solidFill>
                <a:effectLst/>
                <a:latin typeface="inherit"/>
              </a:rPr>
              <a:t>BioSync</a:t>
            </a:r>
            <a:r>
              <a:rPr lang="en-US" b="0" i="0" dirty="0">
                <a:solidFill>
                  <a:srgbClr val="000000"/>
                </a:solidFill>
                <a:effectLst/>
                <a:latin typeface="inherit"/>
              </a:rPr>
              <a:t> Smart Garden isn’t just an innovative product; it’s an investment in the future. For just $2,999, you get a complete smart gardening system, with all the features we talked about before. If you are still not set on buying this product, let me remind you that compared to the cost of organic fruits and vegetables at the store: the </a:t>
            </a:r>
            <a:r>
              <a:rPr lang="en-US" b="0" i="0" dirty="0" err="1">
                <a:solidFill>
                  <a:srgbClr val="000000"/>
                </a:solidFill>
                <a:effectLst/>
                <a:latin typeface="inherit"/>
              </a:rPr>
              <a:t>BioSync</a:t>
            </a:r>
            <a:r>
              <a:rPr lang="en-US" b="0" i="0" dirty="0">
                <a:solidFill>
                  <a:srgbClr val="000000"/>
                </a:solidFill>
                <a:effectLst/>
                <a:latin typeface="inherit"/>
              </a:rPr>
              <a:t> can pay for itself in just 18 months for a family of four, and you will never need to go all the way to the shop just to buy some fruits and vegetables! But the </a:t>
            </a:r>
            <a:r>
              <a:rPr lang="en-US" b="0" i="0" dirty="0" err="1">
                <a:solidFill>
                  <a:srgbClr val="000000"/>
                </a:solidFill>
                <a:effectLst/>
                <a:latin typeface="inherit"/>
              </a:rPr>
              <a:t>BioSync</a:t>
            </a:r>
            <a:r>
              <a:rPr lang="en-US" b="0" i="0" dirty="0">
                <a:solidFill>
                  <a:srgbClr val="000000"/>
                </a:solidFill>
                <a:effectLst/>
                <a:latin typeface="inherit"/>
              </a:rPr>
              <a:t> is not just about making savings and being convenient, you’re also gaining unparalleled quality and transparency. Imagine enjoying fresher, more nutritious produce, grown without pesticides, while reducing your environmental footprint at the same time, all right inside your garden !. Which means you can save your wallet, your time, your health and the environment all at the same time</a:t>
            </a:r>
          </a:p>
          <a:p>
            <a:endParaRPr lang="fr-FR" dirty="0"/>
          </a:p>
        </p:txBody>
      </p:sp>
      <p:sp>
        <p:nvSpPr>
          <p:cNvPr id="4" name="Espace réservé du numéro de diapositive 3"/>
          <p:cNvSpPr>
            <a:spLocks noGrp="1"/>
          </p:cNvSpPr>
          <p:nvPr>
            <p:ph type="sldNum" sz="quarter" idx="5"/>
          </p:nvPr>
        </p:nvSpPr>
        <p:spPr/>
        <p:txBody>
          <a:bodyPr/>
          <a:lstStyle/>
          <a:p>
            <a:fld id="{D95A68B9-E0D8-4229-A721-4699BC608962}" type="slidenum">
              <a:rPr lang="fr-FR" smtClean="0"/>
              <a:t>26</a:t>
            </a:fld>
            <a:endParaRPr lang="fr-FR"/>
          </a:p>
        </p:txBody>
      </p:sp>
    </p:spTree>
    <p:extLst>
      <p:ext uri="{BB962C8B-B14F-4D97-AF65-F5344CB8AC3E}">
        <p14:creationId xmlns:p14="http://schemas.microsoft.com/office/powerpoint/2010/main" val="35878145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46A995D-D1A3-A0D1-5C41-4E0908DE8494}"/>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3CF2F29F-01C1-B8FA-2C13-87B07F7BE05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17828B31-B072-AF57-EAAA-02CB4E0FA16E}"/>
              </a:ext>
            </a:extLst>
          </p:cNvPr>
          <p:cNvSpPr>
            <a:spLocks noGrp="1"/>
          </p:cNvSpPr>
          <p:nvPr>
            <p:ph type="dt" sz="half" idx="10"/>
          </p:nvPr>
        </p:nvSpPr>
        <p:spPr/>
        <p:txBody>
          <a:bodyPr/>
          <a:lstStyle/>
          <a:p>
            <a:fld id="{0A653B92-EDEE-445C-8F51-6FE9474731BC}" type="datetimeFigureOut">
              <a:rPr lang="fr-FR" smtClean="0"/>
              <a:t>05/12/2024</a:t>
            </a:fld>
            <a:endParaRPr lang="fr-FR"/>
          </a:p>
        </p:txBody>
      </p:sp>
      <p:sp>
        <p:nvSpPr>
          <p:cNvPr id="5" name="Espace réservé du pied de page 4">
            <a:extLst>
              <a:ext uri="{FF2B5EF4-FFF2-40B4-BE49-F238E27FC236}">
                <a16:creationId xmlns:a16="http://schemas.microsoft.com/office/drawing/2014/main" id="{C7D0B6EF-C0DE-DB9F-00F1-A80DDC3ED70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82B700C-C908-DB41-7C94-C070996158C5}"/>
              </a:ext>
            </a:extLst>
          </p:cNvPr>
          <p:cNvSpPr>
            <a:spLocks noGrp="1"/>
          </p:cNvSpPr>
          <p:nvPr>
            <p:ph type="sldNum" sz="quarter" idx="12"/>
          </p:nvPr>
        </p:nvSpPr>
        <p:spPr/>
        <p:txBody>
          <a:bodyPr/>
          <a:lstStyle/>
          <a:p>
            <a:fld id="{A1A87DC6-318D-448A-996D-821D1463D167}" type="slidenum">
              <a:rPr lang="fr-FR" smtClean="0"/>
              <a:t>‹N°›</a:t>
            </a:fld>
            <a:endParaRPr lang="fr-FR"/>
          </a:p>
        </p:txBody>
      </p:sp>
    </p:spTree>
    <p:extLst>
      <p:ext uri="{BB962C8B-B14F-4D97-AF65-F5344CB8AC3E}">
        <p14:creationId xmlns:p14="http://schemas.microsoft.com/office/powerpoint/2010/main" val="22229378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50D9ECC-24A4-5A5C-725D-B50D38D08B54}"/>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DCE99719-E587-FE6C-866A-1A5A138C9A38}"/>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ACFE358-7D18-561A-1A49-71991A8BC354}"/>
              </a:ext>
            </a:extLst>
          </p:cNvPr>
          <p:cNvSpPr>
            <a:spLocks noGrp="1"/>
          </p:cNvSpPr>
          <p:nvPr>
            <p:ph type="dt" sz="half" idx="10"/>
          </p:nvPr>
        </p:nvSpPr>
        <p:spPr/>
        <p:txBody>
          <a:bodyPr/>
          <a:lstStyle/>
          <a:p>
            <a:fld id="{0A653B92-EDEE-445C-8F51-6FE9474731BC}" type="datetimeFigureOut">
              <a:rPr lang="fr-FR" smtClean="0"/>
              <a:t>05/12/2024</a:t>
            </a:fld>
            <a:endParaRPr lang="fr-FR"/>
          </a:p>
        </p:txBody>
      </p:sp>
      <p:sp>
        <p:nvSpPr>
          <p:cNvPr id="5" name="Espace réservé du pied de page 4">
            <a:extLst>
              <a:ext uri="{FF2B5EF4-FFF2-40B4-BE49-F238E27FC236}">
                <a16:creationId xmlns:a16="http://schemas.microsoft.com/office/drawing/2014/main" id="{C70D7865-E7F1-BCF2-7E4C-05DE87D1A57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92D64BE-C5A8-83F6-FA47-88F2B11AA2DE}"/>
              </a:ext>
            </a:extLst>
          </p:cNvPr>
          <p:cNvSpPr>
            <a:spLocks noGrp="1"/>
          </p:cNvSpPr>
          <p:nvPr>
            <p:ph type="sldNum" sz="quarter" idx="12"/>
          </p:nvPr>
        </p:nvSpPr>
        <p:spPr/>
        <p:txBody>
          <a:bodyPr/>
          <a:lstStyle/>
          <a:p>
            <a:fld id="{A1A87DC6-318D-448A-996D-821D1463D167}" type="slidenum">
              <a:rPr lang="fr-FR" smtClean="0"/>
              <a:t>‹N°›</a:t>
            </a:fld>
            <a:endParaRPr lang="fr-FR"/>
          </a:p>
        </p:txBody>
      </p:sp>
    </p:spTree>
    <p:extLst>
      <p:ext uri="{BB962C8B-B14F-4D97-AF65-F5344CB8AC3E}">
        <p14:creationId xmlns:p14="http://schemas.microsoft.com/office/powerpoint/2010/main" val="5469936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6EC01D8-5CBC-E575-E57E-BEF54AA5239D}"/>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C453ED8F-20F1-D074-11E3-91D9248F322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B049D1D1-9EA3-CA12-008B-41E0AE0B5CCC}"/>
              </a:ext>
            </a:extLst>
          </p:cNvPr>
          <p:cNvSpPr>
            <a:spLocks noGrp="1"/>
          </p:cNvSpPr>
          <p:nvPr>
            <p:ph type="dt" sz="half" idx="10"/>
          </p:nvPr>
        </p:nvSpPr>
        <p:spPr/>
        <p:txBody>
          <a:bodyPr/>
          <a:lstStyle/>
          <a:p>
            <a:fld id="{0A653B92-EDEE-445C-8F51-6FE9474731BC}" type="datetimeFigureOut">
              <a:rPr lang="fr-FR" smtClean="0"/>
              <a:t>05/12/2024</a:t>
            </a:fld>
            <a:endParaRPr lang="fr-FR"/>
          </a:p>
        </p:txBody>
      </p:sp>
      <p:sp>
        <p:nvSpPr>
          <p:cNvPr id="5" name="Espace réservé du pied de page 4">
            <a:extLst>
              <a:ext uri="{FF2B5EF4-FFF2-40B4-BE49-F238E27FC236}">
                <a16:creationId xmlns:a16="http://schemas.microsoft.com/office/drawing/2014/main" id="{48ED1873-1AD4-3106-E304-6EDCE607F0F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6EC83B6-6297-E938-B083-692629F357C3}"/>
              </a:ext>
            </a:extLst>
          </p:cNvPr>
          <p:cNvSpPr>
            <a:spLocks noGrp="1"/>
          </p:cNvSpPr>
          <p:nvPr>
            <p:ph type="sldNum" sz="quarter" idx="12"/>
          </p:nvPr>
        </p:nvSpPr>
        <p:spPr/>
        <p:txBody>
          <a:bodyPr/>
          <a:lstStyle/>
          <a:p>
            <a:fld id="{A1A87DC6-318D-448A-996D-821D1463D167}" type="slidenum">
              <a:rPr lang="fr-FR" smtClean="0"/>
              <a:t>‹N°›</a:t>
            </a:fld>
            <a:endParaRPr lang="fr-FR"/>
          </a:p>
        </p:txBody>
      </p:sp>
    </p:spTree>
    <p:extLst>
      <p:ext uri="{BB962C8B-B14F-4D97-AF65-F5344CB8AC3E}">
        <p14:creationId xmlns:p14="http://schemas.microsoft.com/office/powerpoint/2010/main" val="25608306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E7F64C2-F1A1-0781-CC92-8493721CF525}"/>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537F52D9-E430-E1C0-A01A-9EA3FCE4F6B0}"/>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8048A327-EB4C-DA3A-0D7D-4DB02278F824}"/>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16FD9322-98DA-3424-9373-235BE6C82BD4}"/>
              </a:ext>
            </a:extLst>
          </p:cNvPr>
          <p:cNvSpPr>
            <a:spLocks noGrp="1"/>
          </p:cNvSpPr>
          <p:nvPr>
            <p:ph type="dt" sz="half" idx="10"/>
          </p:nvPr>
        </p:nvSpPr>
        <p:spPr/>
        <p:txBody>
          <a:bodyPr/>
          <a:lstStyle/>
          <a:p>
            <a:fld id="{0A653B92-EDEE-445C-8F51-6FE9474731BC}" type="datetimeFigureOut">
              <a:rPr lang="fr-FR" smtClean="0"/>
              <a:t>05/12/2024</a:t>
            </a:fld>
            <a:endParaRPr lang="fr-FR"/>
          </a:p>
        </p:txBody>
      </p:sp>
      <p:sp>
        <p:nvSpPr>
          <p:cNvPr id="6" name="Espace réservé du pied de page 5">
            <a:extLst>
              <a:ext uri="{FF2B5EF4-FFF2-40B4-BE49-F238E27FC236}">
                <a16:creationId xmlns:a16="http://schemas.microsoft.com/office/drawing/2014/main" id="{6332A687-EDDF-BF23-23E4-9C1E9379707B}"/>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A3E5DC81-E623-D501-0137-DCC205A171F8}"/>
              </a:ext>
            </a:extLst>
          </p:cNvPr>
          <p:cNvSpPr>
            <a:spLocks noGrp="1"/>
          </p:cNvSpPr>
          <p:nvPr>
            <p:ph type="sldNum" sz="quarter" idx="12"/>
          </p:nvPr>
        </p:nvSpPr>
        <p:spPr/>
        <p:txBody>
          <a:bodyPr/>
          <a:lstStyle/>
          <a:p>
            <a:fld id="{A1A87DC6-318D-448A-996D-821D1463D167}" type="slidenum">
              <a:rPr lang="fr-FR" smtClean="0"/>
              <a:t>‹N°›</a:t>
            </a:fld>
            <a:endParaRPr lang="fr-FR"/>
          </a:p>
        </p:txBody>
      </p:sp>
    </p:spTree>
    <p:extLst>
      <p:ext uri="{BB962C8B-B14F-4D97-AF65-F5344CB8AC3E}">
        <p14:creationId xmlns:p14="http://schemas.microsoft.com/office/powerpoint/2010/main" val="26775367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C41047-57FD-5D59-E087-1E7BF3C2D10B}"/>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EFC84CD4-1D8A-6084-1145-5CF9D192D1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899275DC-0F2C-E8BF-10CD-C077B92A640D}"/>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32BFC73C-70F7-A82C-4DBE-0B7FED341BF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1F43E0DC-B1F2-E5A1-015F-CBFAEDFD12B4}"/>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69225E50-9AC8-8CB1-DCBC-95007AA39614}"/>
              </a:ext>
            </a:extLst>
          </p:cNvPr>
          <p:cNvSpPr>
            <a:spLocks noGrp="1"/>
          </p:cNvSpPr>
          <p:nvPr>
            <p:ph type="dt" sz="half" idx="10"/>
          </p:nvPr>
        </p:nvSpPr>
        <p:spPr/>
        <p:txBody>
          <a:bodyPr/>
          <a:lstStyle/>
          <a:p>
            <a:fld id="{0A653B92-EDEE-445C-8F51-6FE9474731BC}" type="datetimeFigureOut">
              <a:rPr lang="fr-FR" smtClean="0"/>
              <a:t>05/12/2024</a:t>
            </a:fld>
            <a:endParaRPr lang="fr-FR"/>
          </a:p>
        </p:txBody>
      </p:sp>
      <p:sp>
        <p:nvSpPr>
          <p:cNvPr id="8" name="Espace réservé du pied de page 7">
            <a:extLst>
              <a:ext uri="{FF2B5EF4-FFF2-40B4-BE49-F238E27FC236}">
                <a16:creationId xmlns:a16="http://schemas.microsoft.com/office/drawing/2014/main" id="{0A25669C-DB05-759A-5F4F-B447D3E89E4B}"/>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424B1520-1A80-9650-3FA5-7906EDB86D55}"/>
              </a:ext>
            </a:extLst>
          </p:cNvPr>
          <p:cNvSpPr>
            <a:spLocks noGrp="1"/>
          </p:cNvSpPr>
          <p:nvPr>
            <p:ph type="sldNum" sz="quarter" idx="12"/>
          </p:nvPr>
        </p:nvSpPr>
        <p:spPr/>
        <p:txBody>
          <a:bodyPr/>
          <a:lstStyle/>
          <a:p>
            <a:fld id="{A1A87DC6-318D-448A-996D-821D1463D167}" type="slidenum">
              <a:rPr lang="fr-FR" smtClean="0"/>
              <a:t>‹N°›</a:t>
            </a:fld>
            <a:endParaRPr lang="fr-FR"/>
          </a:p>
        </p:txBody>
      </p:sp>
    </p:spTree>
    <p:extLst>
      <p:ext uri="{BB962C8B-B14F-4D97-AF65-F5344CB8AC3E}">
        <p14:creationId xmlns:p14="http://schemas.microsoft.com/office/powerpoint/2010/main" val="2560806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38A9980-1E1B-E66F-C06C-C274662A11A7}"/>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675231F1-1361-0A85-7714-02544B996434}"/>
              </a:ext>
            </a:extLst>
          </p:cNvPr>
          <p:cNvSpPr>
            <a:spLocks noGrp="1"/>
          </p:cNvSpPr>
          <p:nvPr>
            <p:ph type="dt" sz="half" idx="10"/>
          </p:nvPr>
        </p:nvSpPr>
        <p:spPr/>
        <p:txBody>
          <a:bodyPr/>
          <a:lstStyle/>
          <a:p>
            <a:fld id="{0A653B92-EDEE-445C-8F51-6FE9474731BC}" type="datetimeFigureOut">
              <a:rPr lang="fr-FR" smtClean="0"/>
              <a:t>05/12/2024</a:t>
            </a:fld>
            <a:endParaRPr lang="fr-FR"/>
          </a:p>
        </p:txBody>
      </p:sp>
      <p:sp>
        <p:nvSpPr>
          <p:cNvPr id="4" name="Espace réservé du pied de page 3">
            <a:extLst>
              <a:ext uri="{FF2B5EF4-FFF2-40B4-BE49-F238E27FC236}">
                <a16:creationId xmlns:a16="http://schemas.microsoft.com/office/drawing/2014/main" id="{4E9CCCEE-EA6E-9674-03FD-6F94206C49FA}"/>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EB134320-096E-549F-638E-585AEFB970F1}"/>
              </a:ext>
            </a:extLst>
          </p:cNvPr>
          <p:cNvSpPr>
            <a:spLocks noGrp="1"/>
          </p:cNvSpPr>
          <p:nvPr>
            <p:ph type="sldNum" sz="quarter" idx="12"/>
          </p:nvPr>
        </p:nvSpPr>
        <p:spPr/>
        <p:txBody>
          <a:bodyPr/>
          <a:lstStyle/>
          <a:p>
            <a:fld id="{A1A87DC6-318D-448A-996D-821D1463D167}" type="slidenum">
              <a:rPr lang="fr-FR" smtClean="0"/>
              <a:t>‹N°›</a:t>
            </a:fld>
            <a:endParaRPr lang="fr-FR"/>
          </a:p>
        </p:txBody>
      </p:sp>
    </p:spTree>
    <p:extLst>
      <p:ext uri="{BB962C8B-B14F-4D97-AF65-F5344CB8AC3E}">
        <p14:creationId xmlns:p14="http://schemas.microsoft.com/office/powerpoint/2010/main" val="33989946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02555969-C477-BB51-6FDC-6B009A5F79BF}"/>
              </a:ext>
            </a:extLst>
          </p:cNvPr>
          <p:cNvSpPr>
            <a:spLocks noGrp="1"/>
          </p:cNvSpPr>
          <p:nvPr>
            <p:ph type="dt" sz="half" idx="10"/>
          </p:nvPr>
        </p:nvSpPr>
        <p:spPr/>
        <p:txBody>
          <a:bodyPr/>
          <a:lstStyle/>
          <a:p>
            <a:fld id="{0A653B92-EDEE-445C-8F51-6FE9474731BC}" type="datetimeFigureOut">
              <a:rPr lang="fr-FR" smtClean="0"/>
              <a:t>05/12/2024</a:t>
            </a:fld>
            <a:endParaRPr lang="fr-FR"/>
          </a:p>
        </p:txBody>
      </p:sp>
      <p:sp>
        <p:nvSpPr>
          <p:cNvPr id="3" name="Espace réservé du pied de page 2">
            <a:extLst>
              <a:ext uri="{FF2B5EF4-FFF2-40B4-BE49-F238E27FC236}">
                <a16:creationId xmlns:a16="http://schemas.microsoft.com/office/drawing/2014/main" id="{84471CFD-8848-C45C-BBB9-11693EC1B8DA}"/>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57AB46F4-BE36-1BF3-31ED-E1550DA3E864}"/>
              </a:ext>
            </a:extLst>
          </p:cNvPr>
          <p:cNvSpPr>
            <a:spLocks noGrp="1"/>
          </p:cNvSpPr>
          <p:nvPr>
            <p:ph type="sldNum" sz="quarter" idx="12"/>
          </p:nvPr>
        </p:nvSpPr>
        <p:spPr/>
        <p:txBody>
          <a:bodyPr/>
          <a:lstStyle/>
          <a:p>
            <a:fld id="{A1A87DC6-318D-448A-996D-821D1463D167}" type="slidenum">
              <a:rPr lang="fr-FR" smtClean="0"/>
              <a:t>‹N°›</a:t>
            </a:fld>
            <a:endParaRPr lang="fr-FR"/>
          </a:p>
        </p:txBody>
      </p:sp>
    </p:spTree>
    <p:extLst>
      <p:ext uri="{BB962C8B-B14F-4D97-AF65-F5344CB8AC3E}">
        <p14:creationId xmlns:p14="http://schemas.microsoft.com/office/powerpoint/2010/main" val="8700578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5F5AE86-3E33-7C7F-0249-69001525D9BA}"/>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52DAD8A8-9640-F381-C53F-C111DFA389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6AC14822-B408-50CF-5FE3-0894BEDBE6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2D9A8F28-2E00-9C71-F2F9-5CE6558038E6}"/>
              </a:ext>
            </a:extLst>
          </p:cNvPr>
          <p:cNvSpPr>
            <a:spLocks noGrp="1"/>
          </p:cNvSpPr>
          <p:nvPr>
            <p:ph type="dt" sz="half" idx="10"/>
          </p:nvPr>
        </p:nvSpPr>
        <p:spPr/>
        <p:txBody>
          <a:bodyPr/>
          <a:lstStyle/>
          <a:p>
            <a:fld id="{0A653B92-EDEE-445C-8F51-6FE9474731BC}" type="datetimeFigureOut">
              <a:rPr lang="fr-FR" smtClean="0"/>
              <a:t>05/12/2024</a:t>
            </a:fld>
            <a:endParaRPr lang="fr-FR"/>
          </a:p>
        </p:txBody>
      </p:sp>
      <p:sp>
        <p:nvSpPr>
          <p:cNvPr id="6" name="Espace réservé du pied de page 5">
            <a:extLst>
              <a:ext uri="{FF2B5EF4-FFF2-40B4-BE49-F238E27FC236}">
                <a16:creationId xmlns:a16="http://schemas.microsoft.com/office/drawing/2014/main" id="{49DA74C0-E056-8E88-9021-13D003504FF8}"/>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C0550EC7-67E1-CA06-E48F-2E6675A08A2C}"/>
              </a:ext>
            </a:extLst>
          </p:cNvPr>
          <p:cNvSpPr>
            <a:spLocks noGrp="1"/>
          </p:cNvSpPr>
          <p:nvPr>
            <p:ph type="sldNum" sz="quarter" idx="12"/>
          </p:nvPr>
        </p:nvSpPr>
        <p:spPr/>
        <p:txBody>
          <a:bodyPr/>
          <a:lstStyle/>
          <a:p>
            <a:fld id="{A1A87DC6-318D-448A-996D-821D1463D167}" type="slidenum">
              <a:rPr lang="fr-FR" smtClean="0"/>
              <a:t>‹N°›</a:t>
            </a:fld>
            <a:endParaRPr lang="fr-FR"/>
          </a:p>
        </p:txBody>
      </p:sp>
    </p:spTree>
    <p:extLst>
      <p:ext uri="{BB962C8B-B14F-4D97-AF65-F5344CB8AC3E}">
        <p14:creationId xmlns:p14="http://schemas.microsoft.com/office/powerpoint/2010/main" val="33363668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1EE0E44-D312-0420-E6E3-12BF0E26F454}"/>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3E39DBC8-7211-3D02-F91F-15CCE64CD2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788D7019-E59E-284B-895E-2FD318101F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BCAD7B31-AF20-AB70-A655-C9A94E707F28}"/>
              </a:ext>
            </a:extLst>
          </p:cNvPr>
          <p:cNvSpPr>
            <a:spLocks noGrp="1"/>
          </p:cNvSpPr>
          <p:nvPr>
            <p:ph type="dt" sz="half" idx="10"/>
          </p:nvPr>
        </p:nvSpPr>
        <p:spPr/>
        <p:txBody>
          <a:bodyPr/>
          <a:lstStyle/>
          <a:p>
            <a:fld id="{0A653B92-EDEE-445C-8F51-6FE9474731BC}" type="datetimeFigureOut">
              <a:rPr lang="fr-FR" smtClean="0"/>
              <a:t>05/12/2024</a:t>
            </a:fld>
            <a:endParaRPr lang="fr-FR"/>
          </a:p>
        </p:txBody>
      </p:sp>
      <p:sp>
        <p:nvSpPr>
          <p:cNvPr id="6" name="Espace réservé du pied de page 5">
            <a:extLst>
              <a:ext uri="{FF2B5EF4-FFF2-40B4-BE49-F238E27FC236}">
                <a16:creationId xmlns:a16="http://schemas.microsoft.com/office/drawing/2014/main" id="{42F666AB-C306-C2D8-F489-C9C2D4D4A9B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0960317C-3790-FE6E-7CBB-26A00CEEB803}"/>
              </a:ext>
            </a:extLst>
          </p:cNvPr>
          <p:cNvSpPr>
            <a:spLocks noGrp="1"/>
          </p:cNvSpPr>
          <p:nvPr>
            <p:ph type="sldNum" sz="quarter" idx="12"/>
          </p:nvPr>
        </p:nvSpPr>
        <p:spPr/>
        <p:txBody>
          <a:bodyPr/>
          <a:lstStyle/>
          <a:p>
            <a:fld id="{A1A87DC6-318D-448A-996D-821D1463D167}" type="slidenum">
              <a:rPr lang="fr-FR" smtClean="0"/>
              <a:t>‹N°›</a:t>
            </a:fld>
            <a:endParaRPr lang="fr-FR"/>
          </a:p>
        </p:txBody>
      </p:sp>
    </p:spTree>
    <p:extLst>
      <p:ext uri="{BB962C8B-B14F-4D97-AF65-F5344CB8AC3E}">
        <p14:creationId xmlns:p14="http://schemas.microsoft.com/office/powerpoint/2010/main" val="29805837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266460A-C208-57B4-4CB1-0FA21470B129}"/>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1AA5717B-13A0-6362-CFB1-93C52827D70B}"/>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59DECFE-80BF-5113-EB8C-CA3D228CF9E3}"/>
              </a:ext>
            </a:extLst>
          </p:cNvPr>
          <p:cNvSpPr>
            <a:spLocks noGrp="1"/>
          </p:cNvSpPr>
          <p:nvPr>
            <p:ph type="dt" sz="half" idx="10"/>
          </p:nvPr>
        </p:nvSpPr>
        <p:spPr/>
        <p:txBody>
          <a:bodyPr/>
          <a:lstStyle/>
          <a:p>
            <a:fld id="{0A653B92-EDEE-445C-8F51-6FE9474731BC}" type="datetimeFigureOut">
              <a:rPr lang="fr-FR" smtClean="0"/>
              <a:t>05/12/2024</a:t>
            </a:fld>
            <a:endParaRPr lang="fr-FR"/>
          </a:p>
        </p:txBody>
      </p:sp>
      <p:sp>
        <p:nvSpPr>
          <p:cNvPr id="5" name="Espace réservé du pied de page 4">
            <a:extLst>
              <a:ext uri="{FF2B5EF4-FFF2-40B4-BE49-F238E27FC236}">
                <a16:creationId xmlns:a16="http://schemas.microsoft.com/office/drawing/2014/main" id="{42F23B38-C227-0111-7846-534EB6F7AC9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66A2B73-A3B1-5417-5167-4315E59C68DD}"/>
              </a:ext>
            </a:extLst>
          </p:cNvPr>
          <p:cNvSpPr>
            <a:spLocks noGrp="1"/>
          </p:cNvSpPr>
          <p:nvPr>
            <p:ph type="sldNum" sz="quarter" idx="12"/>
          </p:nvPr>
        </p:nvSpPr>
        <p:spPr/>
        <p:txBody>
          <a:bodyPr/>
          <a:lstStyle/>
          <a:p>
            <a:fld id="{A1A87DC6-318D-448A-996D-821D1463D167}" type="slidenum">
              <a:rPr lang="fr-FR" smtClean="0"/>
              <a:t>‹N°›</a:t>
            </a:fld>
            <a:endParaRPr lang="fr-FR"/>
          </a:p>
        </p:txBody>
      </p:sp>
    </p:spTree>
    <p:extLst>
      <p:ext uri="{BB962C8B-B14F-4D97-AF65-F5344CB8AC3E}">
        <p14:creationId xmlns:p14="http://schemas.microsoft.com/office/powerpoint/2010/main" val="14842432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6A216BAB-4B0E-02BB-5419-AD810E6BFFD2}"/>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D1386D95-080E-919B-E5CD-562DA546AC99}"/>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CB356779-B13A-CF2B-72C0-59EBC64C3955}"/>
              </a:ext>
            </a:extLst>
          </p:cNvPr>
          <p:cNvSpPr>
            <a:spLocks noGrp="1"/>
          </p:cNvSpPr>
          <p:nvPr>
            <p:ph type="dt" sz="half" idx="10"/>
          </p:nvPr>
        </p:nvSpPr>
        <p:spPr/>
        <p:txBody>
          <a:bodyPr/>
          <a:lstStyle/>
          <a:p>
            <a:fld id="{0A653B92-EDEE-445C-8F51-6FE9474731BC}" type="datetimeFigureOut">
              <a:rPr lang="fr-FR" smtClean="0"/>
              <a:t>05/12/2024</a:t>
            </a:fld>
            <a:endParaRPr lang="fr-FR"/>
          </a:p>
        </p:txBody>
      </p:sp>
      <p:sp>
        <p:nvSpPr>
          <p:cNvPr id="5" name="Espace réservé du pied de page 4">
            <a:extLst>
              <a:ext uri="{FF2B5EF4-FFF2-40B4-BE49-F238E27FC236}">
                <a16:creationId xmlns:a16="http://schemas.microsoft.com/office/drawing/2014/main" id="{947DD8A8-EA65-FC8F-4EAB-C0F9E790ECF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73C44A5-ACAB-D87E-6F01-12FD12F77084}"/>
              </a:ext>
            </a:extLst>
          </p:cNvPr>
          <p:cNvSpPr>
            <a:spLocks noGrp="1"/>
          </p:cNvSpPr>
          <p:nvPr>
            <p:ph type="sldNum" sz="quarter" idx="12"/>
          </p:nvPr>
        </p:nvSpPr>
        <p:spPr/>
        <p:txBody>
          <a:bodyPr/>
          <a:lstStyle/>
          <a:p>
            <a:fld id="{A1A87DC6-318D-448A-996D-821D1463D167}" type="slidenum">
              <a:rPr lang="fr-FR" smtClean="0"/>
              <a:t>‹N°›</a:t>
            </a:fld>
            <a:endParaRPr lang="fr-FR"/>
          </a:p>
        </p:txBody>
      </p:sp>
    </p:spTree>
    <p:extLst>
      <p:ext uri="{BB962C8B-B14F-4D97-AF65-F5344CB8AC3E}">
        <p14:creationId xmlns:p14="http://schemas.microsoft.com/office/powerpoint/2010/main" val="2592927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10360172-093F-3BB2-F673-354F21FA3A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E5DA9D32-5573-FB20-BA50-62BDB60828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B00F2D7-1241-B880-BC7C-2F2C7FC464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A653B92-EDEE-445C-8F51-6FE9474731BC}" type="datetimeFigureOut">
              <a:rPr lang="fr-FR" smtClean="0"/>
              <a:t>05/12/2024</a:t>
            </a:fld>
            <a:endParaRPr lang="fr-FR"/>
          </a:p>
        </p:txBody>
      </p:sp>
      <p:sp>
        <p:nvSpPr>
          <p:cNvPr id="5" name="Espace réservé du pied de page 4">
            <a:extLst>
              <a:ext uri="{FF2B5EF4-FFF2-40B4-BE49-F238E27FC236}">
                <a16:creationId xmlns:a16="http://schemas.microsoft.com/office/drawing/2014/main" id="{BF92BF0E-9B7F-1135-DDCA-2DECEC2A2C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F6D5AEE4-D308-40B9-8813-786A07C586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1A87DC6-318D-448A-996D-821D1463D167}" type="slidenum">
              <a:rPr lang="fr-FR" smtClean="0"/>
              <a:t>‹N°›</a:t>
            </a:fld>
            <a:endParaRPr lang="fr-FR"/>
          </a:p>
        </p:txBody>
      </p:sp>
    </p:spTree>
    <p:extLst>
      <p:ext uri="{BB962C8B-B14F-4D97-AF65-F5344CB8AC3E}">
        <p14:creationId xmlns:p14="http://schemas.microsoft.com/office/powerpoint/2010/main" val="27733175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LE LUXE AGIT - Balistik Art">
            <a:extLst>
              <a:ext uri="{FF2B5EF4-FFF2-40B4-BE49-F238E27FC236}">
                <a16:creationId xmlns:a16="http://schemas.microsoft.com/office/drawing/2014/main" id="{658A4A2A-AA35-8C3F-352A-EEC8DF5CBE87}"/>
              </a:ext>
            </a:extLst>
          </p:cNvPr>
          <p:cNvPicPr>
            <a:picLocks noChangeAspect="1" noChangeArrowheads="1"/>
          </p:cNvPicPr>
          <p:nvPr/>
        </p:nvPicPr>
        <p:blipFill>
          <a:blip r:embed="rId2">
            <a:alphaModFix amt="50000"/>
            <a:extLst>
              <a:ext uri="{28A0092B-C50C-407E-A947-70E740481C1C}">
                <a14:useLocalDpi xmlns:a14="http://schemas.microsoft.com/office/drawing/2010/main" val="0"/>
              </a:ext>
            </a:extLst>
          </a:blip>
          <a:srcRect t="11417"/>
          <a:stretch/>
        </p:blipFill>
        <p:spPr bwMode="auto">
          <a:xfrm>
            <a:off x="20" y="1"/>
            <a:ext cx="12191980" cy="6857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6681554"/>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2" descr="LE LUXE AGIT - Balistik Art">
            <a:extLst>
              <a:ext uri="{FF2B5EF4-FFF2-40B4-BE49-F238E27FC236}">
                <a16:creationId xmlns:a16="http://schemas.microsoft.com/office/drawing/2014/main" id="{A3010164-77AC-E2C2-EBFF-675D85C5EB9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t="11417"/>
          <a:stretch/>
        </p:blipFill>
        <p:spPr bwMode="auto">
          <a:xfrm>
            <a:off x="20" y="1"/>
            <a:ext cx="12191980" cy="6857999"/>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Toutes les images">
            <a:extLst>
              <a:ext uri="{FF2B5EF4-FFF2-40B4-BE49-F238E27FC236}">
                <a16:creationId xmlns:a16="http://schemas.microsoft.com/office/drawing/2014/main" id="{37E93BF3-8E67-C4D2-A888-7F9513CE5E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14788" y="2095500"/>
            <a:ext cx="4162425" cy="2667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0764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2" descr="LE LUXE AGIT - Balistik Art">
            <a:extLst>
              <a:ext uri="{FF2B5EF4-FFF2-40B4-BE49-F238E27FC236}">
                <a16:creationId xmlns:a16="http://schemas.microsoft.com/office/drawing/2014/main" id="{48053FDA-22F7-CB12-1FE2-394DC88F9A8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t="11417"/>
          <a:stretch/>
        </p:blipFill>
        <p:spPr bwMode="auto">
          <a:xfrm>
            <a:off x="20" y="1"/>
            <a:ext cx="12191980" cy="6857999"/>
          </a:xfrm>
          <a:prstGeom prst="rect">
            <a:avLst/>
          </a:prstGeom>
          <a:noFill/>
          <a:extLst>
            <a:ext uri="{909E8E84-426E-40DD-AFC4-6F175D3DCCD1}">
              <a14:hiddenFill xmlns:a14="http://schemas.microsoft.com/office/drawing/2010/main">
                <a:solidFill>
                  <a:srgbClr val="FFFFFF"/>
                </a:solidFill>
              </a14:hiddenFill>
            </a:ext>
          </a:extLst>
        </p:spPr>
      </p:pic>
      <p:pic>
        <p:nvPicPr>
          <p:cNvPr id="7170" name="Picture 2" descr="What is a Cycle?">
            <a:extLst>
              <a:ext uri="{FF2B5EF4-FFF2-40B4-BE49-F238E27FC236}">
                <a16:creationId xmlns:a16="http://schemas.microsoft.com/office/drawing/2014/main" id="{5D7FF0A7-FFA5-7364-15EA-27A97629B028}"/>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3834" b="89457" l="10000" r="92000">
                        <a14:foregroundMark x1="78667" y1="54952" x2="62667" y2="67732"/>
                        <a14:foregroundMark x1="62667" y1="67732" x2="76333" y2="78594"/>
                        <a14:foregroundMark x1="76333" y1="78594" x2="84000" y2="62300"/>
                        <a14:foregroundMark x1="84000" y1="62300" x2="81000" y2="57827"/>
                        <a14:foregroundMark x1="74667" y1="10543" x2="61333" y2="22684"/>
                        <a14:foregroundMark x1="61333" y1="22684" x2="75667" y2="32268"/>
                        <a14:foregroundMark x1="75667" y1="32268" x2="82333" y2="16613"/>
                        <a14:foregroundMark x1="82333" y1="16613" x2="72333" y2="8946"/>
                        <a14:foregroundMark x1="33333" y1="12141" x2="15000" y2="12141"/>
                        <a14:foregroundMark x1="15000" y1="12141" x2="19667" y2="29073"/>
                        <a14:foregroundMark x1="19667" y1="29073" x2="37333" y2="29393"/>
                        <a14:foregroundMark x1="37333" y1="29393" x2="34667" y2="13419"/>
                        <a14:foregroundMark x1="70667" y1="3834" x2="70667" y2="3834"/>
                        <a14:foregroundMark x1="92000" y1="65176" x2="92000" y2="65176"/>
                        <a14:foregroundMark x1="80000" y1="63578" x2="80000" y2="63578"/>
                        <a14:foregroundMark x1="86333" y1="74760" x2="86333" y2="74760"/>
                      </a14:backgroundRemoval>
                    </a14:imgEffect>
                  </a14:imgLayer>
                </a14:imgProps>
              </a:ext>
              <a:ext uri="{28A0092B-C50C-407E-A947-70E740481C1C}">
                <a14:useLocalDpi xmlns:a14="http://schemas.microsoft.com/office/drawing/2010/main" val="0"/>
              </a:ext>
            </a:extLst>
          </a:blip>
          <a:srcRect t="1" b="-476"/>
          <a:stretch/>
        </p:blipFill>
        <p:spPr bwMode="auto">
          <a:xfrm>
            <a:off x="4667250" y="1938338"/>
            <a:ext cx="2857500" cy="2981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44286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2614EB8-3C09-CE42-B7CB-ED2613F16F58}"/>
            </a:ext>
          </a:extLst>
        </p:cNvPr>
        <p:cNvGrpSpPr/>
        <p:nvPr/>
      </p:nvGrpSpPr>
      <p:grpSpPr>
        <a:xfrm>
          <a:off x="0" y="0"/>
          <a:ext cx="0" cy="0"/>
          <a:chOff x="0" y="0"/>
          <a:chExt cx="0" cy="0"/>
        </a:xfrm>
      </p:grpSpPr>
      <p:sp>
        <p:nvSpPr>
          <p:cNvPr id="1031" name="Rectangle 1030">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026" name="Picture 2" descr="LE LUXE AGIT - Balistik Art">
            <a:extLst>
              <a:ext uri="{FF2B5EF4-FFF2-40B4-BE49-F238E27FC236}">
                <a16:creationId xmlns:a16="http://schemas.microsoft.com/office/drawing/2014/main" id="{8F38BB0F-DE89-FCEB-91FE-29E6A5BB5E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1434"/>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33663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2" descr="LE LUXE AGIT - Balistik Art">
            <a:extLst>
              <a:ext uri="{FF2B5EF4-FFF2-40B4-BE49-F238E27FC236}">
                <a16:creationId xmlns:a16="http://schemas.microsoft.com/office/drawing/2014/main" id="{6A2394AD-9677-B71A-DC8C-F699242CDD6A}"/>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t="11417"/>
          <a:stretch/>
        </p:blipFill>
        <p:spPr bwMode="auto">
          <a:xfrm>
            <a:off x="20" y="1"/>
            <a:ext cx="12191980" cy="6857999"/>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 4" descr="Une image contenant plante d’intérieur, plante&#10;&#10;Description générée automatiquement">
            <a:extLst>
              <a:ext uri="{FF2B5EF4-FFF2-40B4-BE49-F238E27FC236}">
                <a16:creationId xmlns:a16="http://schemas.microsoft.com/office/drawing/2014/main" id="{B71885F7-E6AE-87FA-4242-E92D61F66ECD}"/>
              </a:ext>
            </a:extLst>
          </p:cNvPr>
          <p:cNvPicPr>
            <a:picLocks noChangeAspect="1"/>
          </p:cNvPicPr>
          <p:nvPr/>
        </p:nvPicPr>
        <p:blipFill>
          <a:blip r:embed="rId4">
            <a:extLst>
              <a:ext uri="{28A0092B-C50C-407E-A947-70E740481C1C}">
                <a14:useLocalDpi xmlns:a14="http://schemas.microsoft.com/office/drawing/2010/main" val="0"/>
              </a:ext>
            </a:extLst>
          </a:blip>
          <a:srcRect l="1622" r="7467" b="18037"/>
          <a:stretch/>
        </p:blipFill>
        <p:spPr>
          <a:xfrm>
            <a:off x="3523488" y="10"/>
            <a:ext cx="8668512" cy="6857990"/>
          </a:xfrm>
          <a:prstGeom prst="rect">
            <a:avLst/>
          </a:prstGeom>
        </p:spPr>
      </p:pic>
      <p:pic>
        <p:nvPicPr>
          <p:cNvPr id="8194" name="Picture 2" descr="LE LUXE AGIT - Balistik Art">
            <a:extLst>
              <a:ext uri="{FF2B5EF4-FFF2-40B4-BE49-F238E27FC236}">
                <a16:creationId xmlns:a16="http://schemas.microsoft.com/office/drawing/2014/main" id="{115635ED-B0DB-A87A-AE8B-E150AD7ABC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79046" y="-1"/>
            <a:ext cx="5157748" cy="328054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LE LUXE AGIT - Balistik Art">
            <a:extLst>
              <a:ext uri="{FF2B5EF4-FFF2-40B4-BE49-F238E27FC236}">
                <a16:creationId xmlns:a16="http://schemas.microsoft.com/office/drawing/2014/main" id="{F301366F-0581-6B45-B726-426EB3DD97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79046" y="3150345"/>
            <a:ext cx="5829260" cy="3707657"/>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LE LUXE AGIT - Balistik Art">
            <a:extLst>
              <a:ext uri="{FF2B5EF4-FFF2-40B4-BE49-F238E27FC236}">
                <a16:creationId xmlns:a16="http://schemas.microsoft.com/office/drawing/2014/main" id="{5E35CC40-6DEE-667A-0AA6-8F362618B4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78694" y="-65100"/>
            <a:ext cx="5157748" cy="32805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18439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14589-5486-5EA8-9003-82EDAB251CD7}"/>
            </a:ext>
          </a:extLst>
        </p:cNvPr>
        <p:cNvGrpSpPr/>
        <p:nvPr/>
      </p:nvGrpSpPr>
      <p:grpSpPr>
        <a:xfrm>
          <a:off x="0" y="0"/>
          <a:ext cx="0" cy="0"/>
          <a:chOff x="0" y="0"/>
          <a:chExt cx="0" cy="0"/>
        </a:xfrm>
      </p:grpSpPr>
      <p:pic>
        <p:nvPicPr>
          <p:cNvPr id="4" name="Picture 2" descr="LE LUXE AGIT - Balistik Art">
            <a:extLst>
              <a:ext uri="{FF2B5EF4-FFF2-40B4-BE49-F238E27FC236}">
                <a16:creationId xmlns:a16="http://schemas.microsoft.com/office/drawing/2014/main" id="{4F3199EA-39E4-691F-67A6-7381DBABF290}"/>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t="11417"/>
          <a:stretch/>
        </p:blipFill>
        <p:spPr bwMode="auto">
          <a:xfrm>
            <a:off x="20" y="1"/>
            <a:ext cx="12191980" cy="6857999"/>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 4" descr="Une image contenant plante d’intérieur, plante&#10;&#10;Description générée automatiquement">
            <a:extLst>
              <a:ext uri="{FF2B5EF4-FFF2-40B4-BE49-F238E27FC236}">
                <a16:creationId xmlns:a16="http://schemas.microsoft.com/office/drawing/2014/main" id="{F362C874-5194-7F7E-3F37-ED0BF673A490}"/>
              </a:ext>
            </a:extLst>
          </p:cNvPr>
          <p:cNvPicPr>
            <a:picLocks noChangeAspect="1"/>
          </p:cNvPicPr>
          <p:nvPr/>
        </p:nvPicPr>
        <p:blipFill>
          <a:blip r:embed="rId4">
            <a:extLst>
              <a:ext uri="{28A0092B-C50C-407E-A947-70E740481C1C}">
                <a14:useLocalDpi xmlns:a14="http://schemas.microsoft.com/office/drawing/2010/main" val="0"/>
              </a:ext>
            </a:extLst>
          </a:blip>
          <a:srcRect l="1622" r="7467" b="18037"/>
          <a:stretch/>
        </p:blipFill>
        <p:spPr>
          <a:xfrm>
            <a:off x="3523488" y="10"/>
            <a:ext cx="8668512" cy="6857990"/>
          </a:xfrm>
          <a:prstGeom prst="rect">
            <a:avLst/>
          </a:prstGeom>
        </p:spPr>
      </p:pic>
      <p:pic>
        <p:nvPicPr>
          <p:cNvPr id="6" name="Picture 2" descr="LE LUXE AGIT - Balistik Art">
            <a:extLst>
              <a:ext uri="{FF2B5EF4-FFF2-40B4-BE49-F238E27FC236}">
                <a16:creationId xmlns:a16="http://schemas.microsoft.com/office/drawing/2014/main" id="{4E34C025-F444-58DF-BD79-0DDA5CE13B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79046" y="3150345"/>
            <a:ext cx="5829260" cy="3707657"/>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LE LUXE AGIT - Balistik Art">
            <a:extLst>
              <a:ext uri="{FF2B5EF4-FFF2-40B4-BE49-F238E27FC236}">
                <a16:creationId xmlns:a16="http://schemas.microsoft.com/office/drawing/2014/main" id="{661E8472-8F39-A2D7-83AA-A60B20C003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78694" y="-65100"/>
            <a:ext cx="5157748" cy="32805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54005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00362-C0BA-BF89-4163-1523D173BF06}"/>
            </a:ext>
          </a:extLst>
        </p:cNvPr>
        <p:cNvGrpSpPr/>
        <p:nvPr/>
      </p:nvGrpSpPr>
      <p:grpSpPr>
        <a:xfrm>
          <a:off x="0" y="0"/>
          <a:ext cx="0" cy="0"/>
          <a:chOff x="0" y="0"/>
          <a:chExt cx="0" cy="0"/>
        </a:xfrm>
      </p:grpSpPr>
      <p:pic>
        <p:nvPicPr>
          <p:cNvPr id="4" name="Picture 2" descr="LE LUXE AGIT - Balistik Art">
            <a:extLst>
              <a:ext uri="{FF2B5EF4-FFF2-40B4-BE49-F238E27FC236}">
                <a16:creationId xmlns:a16="http://schemas.microsoft.com/office/drawing/2014/main" id="{FEE6DCA3-2E2F-2743-97F5-1246495E7A91}"/>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t="11417"/>
          <a:stretch/>
        </p:blipFill>
        <p:spPr bwMode="auto">
          <a:xfrm>
            <a:off x="20" y="1"/>
            <a:ext cx="12191980" cy="6857999"/>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 4" descr="Une image contenant plante d’intérieur, plante&#10;&#10;Description générée automatiquement">
            <a:extLst>
              <a:ext uri="{FF2B5EF4-FFF2-40B4-BE49-F238E27FC236}">
                <a16:creationId xmlns:a16="http://schemas.microsoft.com/office/drawing/2014/main" id="{E79C44CA-E6EB-02FD-B381-9F9220A0CC39}"/>
              </a:ext>
            </a:extLst>
          </p:cNvPr>
          <p:cNvPicPr>
            <a:picLocks noChangeAspect="1"/>
          </p:cNvPicPr>
          <p:nvPr/>
        </p:nvPicPr>
        <p:blipFill>
          <a:blip r:embed="rId4">
            <a:extLst>
              <a:ext uri="{28A0092B-C50C-407E-A947-70E740481C1C}">
                <a14:useLocalDpi xmlns:a14="http://schemas.microsoft.com/office/drawing/2010/main" val="0"/>
              </a:ext>
            </a:extLst>
          </a:blip>
          <a:srcRect l="1622" r="7467" b="18037"/>
          <a:stretch/>
        </p:blipFill>
        <p:spPr>
          <a:xfrm>
            <a:off x="3523488" y="10"/>
            <a:ext cx="8668512" cy="6857990"/>
          </a:xfrm>
          <a:prstGeom prst="rect">
            <a:avLst/>
          </a:prstGeom>
        </p:spPr>
      </p:pic>
      <p:pic>
        <p:nvPicPr>
          <p:cNvPr id="7" name="Picture 2" descr="LE LUXE AGIT - Balistik Art">
            <a:extLst>
              <a:ext uri="{FF2B5EF4-FFF2-40B4-BE49-F238E27FC236}">
                <a16:creationId xmlns:a16="http://schemas.microsoft.com/office/drawing/2014/main" id="{1A10C848-B77E-3D38-D795-D606C25EDE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78694" y="-65100"/>
            <a:ext cx="5157748" cy="32805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86465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 4" descr="Une image contenant plante d’intérieur, plante&#10;&#10;Description générée automatiquement">
            <a:extLst>
              <a:ext uri="{FF2B5EF4-FFF2-40B4-BE49-F238E27FC236}">
                <a16:creationId xmlns:a16="http://schemas.microsoft.com/office/drawing/2014/main" id="{5221E9C7-8802-FCFD-0C54-DC11A491140B}"/>
              </a:ext>
            </a:extLst>
          </p:cNvPr>
          <p:cNvPicPr>
            <a:picLocks noChangeAspect="1"/>
          </p:cNvPicPr>
          <p:nvPr/>
        </p:nvPicPr>
        <p:blipFill>
          <a:blip r:embed="rId3">
            <a:extLst>
              <a:ext uri="{28A0092B-C50C-407E-A947-70E740481C1C}">
                <a14:useLocalDpi xmlns:a14="http://schemas.microsoft.com/office/drawing/2010/main" val="0"/>
              </a:ext>
            </a:extLst>
          </a:blip>
          <a:srcRect l="1622" r="7467" b="18037"/>
          <a:stretch/>
        </p:blipFill>
        <p:spPr>
          <a:xfrm>
            <a:off x="3523488" y="10"/>
            <a:ext cx="8668512" cy="6857990"/>
          </a:xfrm>
          <a:prstGeom prst="rect">
            <a:avLst/>
          </a:prstGeom>
        </p:spPr>
      </p:pic>
      <p:sp>
        <p:nvSpPr>
          <p:cNvPr id="12" name="Rectangle 11">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2169FAFA-CA8F-FF06-6A71-C2499621AFC5}"/>
              </a:ext>
            </a:extLst>
          </p:cNvPr>
          <p:cNvSpPr>
            <a:spLocks noGrp="1"/>
          </p:cNvSpPr>
          <p:nvPr>
            <p:ph type="ctrTitle"/>
          </p:nvPr>
        </p:nvSpPr>
        <p:spPr>
          <a:xfrm>
            <a:off x="477981" y="1122363"/>
            <a:ext cx="4023360" cy="3204134"/>
          </a:xfrm>
        </p:spPr>
        <p:txBody>
          <a:bodyPr anchor="b">
            <a:normAutofit/>
          </a:bodyPr>
          <a:lstStyle/>
          <a:p>
            <a:pPr algn="l"/>
            <a:r>
              <a:rPr lang="fr-FR" sz="4800">
                <a:solidFill>
                  <a:schemeClr val="bg1"/>
                </a:solidFill>
              </a:rPr>
              <a:t>BioSync Smart Garden</a:t>
            </a:r>
          </a:p>
        </p:txBody>
      </p:sp>
      <p:sp>
        <p:nvSpPr>
          <p:cNvPr id="3" name="Sous-titre 2">
            <a:extLst>
              <a:ext uri="{FF2B5EF4-FFF2-40B4-BE49-F238E27FC236}">
                <a16:creationId xmlns:a16="http://schemas.microsoft.com/office/drawing/2014/main" id="{05518D77-47FB-FD0B-589D-754FF250FF32}"/>
              </a:ext>
            </a:extLst>
          </p:cNvPr>
          <p:cNvSpPr>
            <a:spLocks noGrp="1"/>
          </p:cNvSpPr>
          <p:nvPr>
            <p:ph type="subTitle" idx="1"/>
          </p:nvPr>
        </p:nvSpPr>
        <p:spPr>
          <a:xfrm>
            <a:off x="477980" y="4872922"/>
            <a:ext cx="4023359" cy="1208141"/>
          </a:xfrm>
        </p:spPr>
        <p:txBody>
          <a:bodyPr>
            <a:normAutofit/>
          </a:bodyPr>
          <a:lstStyle/>
          <a:p>
            <a:pPr algn="l"/>
            <a:r>
              <a:rPr lang="fr-FR" sz="1700" dirty="0">
                <a:solidFill>
                  <a:schemeClr val="bg1"/>
                </a:solidFill>
              </a:rPr>
              <a:t>GARONNE Quentin</a:t>
            </a:r>
            <a:br>
              <a:rPr lang="fr-FR" sz="1700" dirty="0">
                <a:solidFill>
                  <a:schemeClr val="bg1"/>
                </a:solidFill>
              </a:rPr>
            </a:br>
            <a:r>
              <a:rPr lang="fr-FR" sz="1700" dirty="0">
                <a:solidFill>
                  <a:schemeClr val="bg1"/>
                </a:solidFill>
              </a:rPr>
              <a:t>BURETH Joana</a:t>
            </a:r>
            <a:br>
              <a:rPr lang="fr-FR" sz="1700" dirty="0">
                <a:solidFill>
                  <a:schemeClr val="bg1"/>
                </a:solidFill>
              </a:rPr>
            </a:br>
            <a:r>
              <a:rPr lang="fr-FR" sz="1700" dirty="0">
                <a:solidFill>
                  <a:schemeClr val="bg1"/>
                </a:solidFill>
              </a:rPr>
              <a:t>GRAFFEILLE </a:t>
            </a:r>
            <a:r>
              <a:rPr lang="fr-FR" sz="1700" dirty="0" err="1">
                <a:solidFill>
                  <a:schemeClr val="bg1"/>
                </a:solidFill>
              </a:rPr>
              <a:t>Lucca</a:t>
            </a:r>
            <a:endParaRPr lang="fr-FR" sz="1700" dirty="0">
              <a:solidFill>
                <a:schemeClr val="bg1"/>
              </a:solidFill>
            </a:endParaRPr>
          </a:p>
          <a:p>
            <a:pPr algn="l"/>
            <a:r>
              <a:rPr lang="fr-FR" sz="1700" dirty="0">
                <a:solidFill>
                  <a:schemeClr val="bg1"/>
                </a:solidFill>
              </a:rPr>
              <a:t>BAYLE Yanis</a:t>
            </a:r>
          </a:p>
        </p:txBody>
      </p:sp>
      <p:sp>
        <p:nvSpPr>
          <p:cNvPr id="14" name="Rectangle 13">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6" name="Rectangle 15">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725390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9AA72BD9-2C5A-4EDC-931F-5AA08EACA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35+ Best Green Color Palettes with Names and Hex Codes – CreativeBooster">
            <a:extLst>
              <a:ext uri="{FF2B5EF4-FFF2-40B4-BE49-F238E27FC236}">
                <a16:creationId xmlns:a16="http://schemas.microsoft.com/office/drawing/2014/main" id="{EC148D00-9016-A732-C6AB-0D9DB1DE31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0937" t="9091" r="12639"/>
          <a:stretch/>
        </p:blipFill>
        <p:spPr bwMode="auto">
          <a:xfrm>
            <a:off x="3522468" y="10"/>
            <a:ext cx="8669532" cy="6857990"/>
          </a:xfrm>
          <a:prstGeom prst="rect">
            <a:avLst/>
          </a:prstGeom>
          <a:noFill/>
          <a:extLst>
            <a:ext uri="{909E8E84-426E-40DD-AFC4-6F175D3DCCD1}">
              <a14:hiddenFill xmlns:a14="http://schemas.microsoft.com/office/drawing/2010/main">
                <a:solidFill>
                  <a:srgbClr val="FFFFFF"/>
                </a:solidFill>
              </a14:hiddenFill>
            </a:ext>
          </a:extLst>
        </p:spPr>
      </p:pic>
      <p:sp>
        <p:nvSpPr>
          <p:cNvPr id="1033" name="Rectangle 1032">
            <a:extLst>
              <a:ext uri="{FF2B5EF4-FFF2-40B4-BE49-F238E27FC236}">
                <a16:creationId xmlns:a16="http://schemas.microsoft.com/office/drawing/2014/main" id="{DD3981AC-7B61-4947-BCF3-F7AA7FA38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tx1"/>
              </a:gs>
              <a:gs pos="35000">
                <a:schemeClr val="tx1">
                  <a:alpha val="78000"/>
                </a:schemeClr>
              </a:gs>
              <a:gs pos="19000">
                <a:schemeClr val="tx1">
                  <a:alpha val="38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1A14994D-58CF-0944-1C42-2D456E265DA3}"/>
              </a:ext>
            </a:extLst>
          </p:cNvPr>
          <p:cNvSpPr>
            <a:spLocks noGrp="1"/>
          </p:cNvSpPr>
          <p:nvPr>
            <p:ph type="title"/>
          </p:nvPr>
        </p:nvSpPr>
        <p:spPr>
          <a:xfrm>
            <a:off x="371094" y="1161288"/>
            <a:ext cx="3438144" cy="1124712"/>
          </a:xfrm>
        </p:spPr>
        <p:txBody>
          <a:bodyPr anchor="b">
            <a:normAutofit/>
          </a:bodyPr>
          <a:lstStyle/>
          <a:p>
            <a:r>
              <a:rPr lang="fr-FR" sz="2800">
                <a:solidFill>
                  <a:schemeClr val="bg1"/>
                </a:solidFill>
              </a:rPr>
              <a:t>Table of contents :</a:t>
            </a:r>
          </a:p>
        </p:txBody>
      </p:sp>
      <p:sp>
        <p:nvSpPr>
          <p:cNvPr id="1035" name="Rectangle 1034">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037" name="Rectangle 1036">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chemeClr val="tx1"/>
          </a:solid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5791603B-12EB-E2D5-407C-7FD7067680C3}"/>
              </a:ext>
            </a:extLst>
          </p:cNvPr>
          <p:cNvSpPr>
            <a:spLocks noGrp="1"/>
          </p:cNvSpPr>
          <p:nvPr>
            <p:ph idx="1"/>
          </p:nvPr>
        </p:nvSpPr>
        <p:spPr>
          <a:xfrm>
            <a:off x="371094" y="2718054"/>
            <a:ext cx="3438906" cy="3207258"/>
          </a:xfrm>
        </p:spPr>
        <p:txBody>
          <a:bodyPr anchor="t">
            <a:normAutofit/>
          </a:bodyPr>
          <a:lstStyle/>
          <a:p>
            <a:r>
              <a:rPr lang="fr-FR" sz="1700" dirty="0" err="1">
                <a:solidFill>
                  <a:schemeClr val="bg1"/>
                </a:solidFill>
              </a:rPr>
              <a:t>Technology</a:t>
            </a:r>
            <a:r>
              <a:rPr lang="fr-FR" sz="1700" dirty="0">
                <a:solidFill>
                  <a:schemeClr val="bg1"/>
                </a:solidFill>
              </a:rPr>
              <a:t> </a:t>
            </a:r>
            <a:r>
              <a:rPr lang="fr-FR" sz="1700" dirty="0" err="1">
                <a:solidFill>
                  <a:schemeClr val="bg1"/>
                </a:solidFill>
              </a:rPr>
              <a:t>Overview</a:t>
            </a:r>
            <a:endParaRPr lang="fr-FR" sz="1700" dirty="0">
              <a:solidFill>
                <a:schemeClr val="bg1"/>
              </a:solidFill>
            </a:endParaRPr>
          </a:p>
          <a:p>
            <a:r>
              <a:rPr lang="fr-FR" sz="1700" dirty="0">
                <a:solidFill>
                  <a:schemeClr val="bg1"/>
                </a:solidFill>
              </a:rPr>
              <a:t>Key </a:t>
            </a:r>
            <a:r>
              <a:rPr lang="fr-FR" sz="1700" dirty="0" err="1">
                <a:solidFill>
                  <a:schemeClr val="bg1"/>
                </a:solidFill>
              </a:rPr>
              <a:t>Features</a:t>
            </a:r>
            <a:endParaRPr lang="fr-FR" sz="1700" dirty="0">
              <a:solidFill>
                <a:schemeClr val="bg1"/>
              </a:solidFill>
            </a:endParaRPr>
          </a:p>
          <a:p>
            <a:r>
              <a:rPr lang="fr-FR" sz="1700" dirty="0">
                <a:solidFill>
                  <a:schemeClr val="bg1"/>
                </a:solidFill>
              </a:rPr>
              <a:t>Global </a:t>
            </a:r>
            <a:r>
              <a:rPr lang="fr-FR" sz="1700" dirty="0" err="1">
                <a:solidFill>
                  <a:schemeClr val="bg1"/>
                </a:solidFill>
              </a:rPr>
              <a:t>View</a:t>
            </a:r>
            <a:r>
              <a:rPr lang="fr-FR" sz="1700" dirty="0">
                <a:solidFill>
                  <a:schemeClr val="bg1"/>
                </a:solidFill>
              </a:rPr>
              <a:t> of the </a:t>
            </a:r>
            <a:r>
              <a:rPr lang="fr-FR" sz="1700" dirty="0" err="1">
                <a:solidFill>
                  <a:schemeClr val="bg1"/>
                </a:solidFill>
              </a:rPr>
              <a:t>product</a:t>
            </a:r>
            <a:endParaRPr lang="fr-FR" sz="1700" dirty="0">
              <a:solidFill>
                <a:schemeClr val="bg1"/>
              </a:solidFill>
            </a:endParaRPr>
          </a:p>
          <a:p>
            <a:r>
              <a:rPr lang="fr-FR" sz="1700" dirty="0">
                <a:solidFill>
                  <a:schemeClr val="bg1"/>
                </a:solidFill>
              </a:rPr>
              <a:t>Example of a </a:t>
            </a:r>
            <a:r>
              <a:rPr lang="fr-FR" sz="1700" dirty="0" err="1">
                <a:solidFill>
                  <a:schemeClr val="bg1"/>
                </a:solidFill>
              </a:rPr>
              <a:t>sequence</a:t>
            </a:r>
            <a:endParaRPr lang="fr-FR" sz="1700" dirty="0">
              <a:solidFill>
                <a:schemeClr val="bg1"/>
              </a:solidFill>
            </a:endParaRPr>
          </a:p>
          <a:p>
            <a:r>
              <a:rPr lang="fr-FR" sz="1700" dirty="0" err="1">
                <a:solidFill>
                  <a:schemeClr val="bg1"/>
                </a:solidFill>
              </a:rPr>
              <a:t>Environmental</a:t>
            </a:r>
            <a:r>
              <a:rPr lang="fr-FR" sz="1700" dirty="0">
                <a:solidFill>
                  <a:schemeClr val="bg1"/>
                </a:solidFill>
              </a:rPr>
              <a:t> Impact</a:t>
            </a:r>
          </a:p>
          <a:p>
            <a:r>
              <a:rPr lang="fr-FR" sz="1700" dirty="0" err="1">
                <a:solidFill>
                  <a:schemeClr val="bg1"/>
                </a:solidFill>
              </a:rPr>
              <a:t>Market</a:t>
            </a:r>
            <a:r>
              <a:rPr lang="fr-FR" sz="1700" dirty="0">
                <a:solidFill>
                  <a:schemeClr val="bg1"/>
                </a:solidFill>
              </a:rPr>
              <a:t> Position</a:t>
            </a:r>
          </a:p>
          <a:p>
            <a:r>
              <a:rPr lang="fr-FR" sz="1700" dirty="0" err="1">
                <a:solidFill>
                  <a:schemeClr val="bg1"/>
                </a:solidFill>
              </a:rPr>
              <a:t>Closing</a:t>
            </a:r>
            <a:endParaRPr lang="fr-FR" sz="1700" dirty="0">
              <a:solidFill>
                <a:schemeClr val="bg1"/>
              </a:solidFill>
            </a:endParaRPr>
          </a:p>
          <a:p>
            <a:r>
              <a:rPr lang="fr-FR" sz="1700" dirty="0" err="1">
                <a:solidFill>
                  <a:schemeClr val="bg1"/>
                </a:solidFill>
              </a:rPr>
              <a:t>Bids</a:t>
            </a:r>
            <a:r>
              <a:rPr lang="fr-FR" sz="1700" dirty="0">
                <a:solidFill>
                  <a:schemeClr val="bg1"/>
                </a:solidFill>
              </a:rPr>
              <a:t> </a:t>
            </a:r>
          </a:p>
        </p:txBody>
      </p:sp>
    </p:spTree>
    <p:extLst>
      <p:ext uri="{BB962C8B-B14F-4D97-AF65-F5344CB8AC3E}">
        <p14:creationId xmlns:p14="http://schemas.microsoft.com/office/powerpoint/2010/main" val="2194427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9AA72BD9-2C5A-4EDC-931F-5AA08EACA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Top 10 Emerging Technologies That Are Changing The World">
            <a:extLst>
              <a:ext uri="{FF2B5EF4-FFF2-40B4-BE49-F238E27FC236}">
                <a16:creationId xmlns:a16="http://schemas.microsoft.com/office/drawing/2014/main" id="{96D20BC8-7141-F4B2-AA59-31A233ECA1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3020" t="8153" r="28926" b="1"/>
          <a:stretch/>
        </p:blipFill>
        <p:spPr bwMode="auto">
          <a:xfrm>
            <a:off x="3522468" y="10"/>
            <a:ext cx="8669532" cy="6857990"/>
          </a:xfrm>
          <a:prstGeom prst="rect">
            <a:avLst/>
          </a:prstGeom>
          <a:noFill/>
          <a:extLst>
            <a:ext uri="{909E8E84-426E-40DD-AFC4-6F175D3DCCD1}">
              <a14:hiddenFill xmlns:a14="http://schemas.microsoft.com/office/drawing/2010/main">
                <a:solidFill>
                  <a:srgbClr val="FFFFFF"/>
                </a:solidFill>
              </a14:hiddenFill>
            </a:ext>
          </a:extLst>
        </p:spPr>
      </p:pic>
      <p:sp>
        <p:nvSpPr>
          <p:cNvPr id="2057" name="Rectangle 2056">
            <a:extLst>
              <a:ext uri="{FF2B5EF4-FFF2-40B4-BE49-F238E27FC236}">
                <a16:creationId xmlns:a16="http://schemas.microsoft.com/office/drawing/2014/main" id="{DD3981AC-7B61-4947-BCF3-F7AA7FA38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tx1"/>
              </a:gs>
              <a:gs pos="35000">
                <a:schemeClr val="tx1">
                  <a:alpha val="78000"/>
                </a:schemeClr>
              </a:gs>
              <a:gs pos="19000">
                <a:schemeClr val="tx1">
                  <a:alpha val="38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1CB03AEB-1860-10EF-EE83-E5796DC15C5E}"/>
              </a:ext>
            </a:extLst>
          </p:cNvPr>
          <p:cNvSpPr>
            <a:spLocks noGrp="1"/>
          </p:cNvSpPr>
          <p:nvPr>
            <p:ph type="title"/>
          </p:nvPr>
        </p:nvSpPr>
        <p:spPr>
          <a:xfrm>
            <a:off x="371094" y="1161288"/>
            <a:ext cx="3438144" cy="1124712"/>
          </a:xfrm>
        </p:spPr>
        <p:txBody>
          <a:bodyPr anchor="b">
            <a:normAutofit/>
          </a:bodyPr>
          <a:lstStyle/>
          <a:p>
            <a:r>
              <a:rPr lang="fr-FR" sz="2800">
                <a:solidFill>
                  <a:schemeClr val="bg1"/>
                </a:solidFill>
              </a:rPr>
              <a:t>Technology Overview</a:t>
            </a:r>
          </a:p>
        </p:txBody>
      </p:sp>
      <p:sp>
        <p:nvSpPr>
          <p:cNvPr id="2059" name="Rectangle 2058">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061" name="Rectangle 2060">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chemeClr val="tx1"/>
          </a:solid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644C0415-AC25-DD16-F13B-129806FFE1D6}"/>
              </a:ext>
            </a:extLst>
          </p:cNvPr>
          <p:cNvSpPr>
            <a:spLocks noGrp="1"/>
          </p:cNvSpPr>
          <p:nvPr>
            <p:ph idx="1"/>
          </p:nvPr>
        </p:nvSpPr>
        <p:spPr>
          <a:xfrm>
            <a:off x="371094" y="2718054"/>
            <a:ext cx="3438906" cy="3207258"/>
          </a:xfrm>
        </p:spPr>
        <p:txBody>
          <a:bodyPr anchor="t">
            <a:normAutofit/>
          </a:bodyPr>
          <a:lstStyle/>
          <a:p>
            <a:endParaRPr lang="fr-FR" sz="1700">
              <a:solidFill>
                <a:schemeClr val="bg1"/>
              </a:solidFill>
            </a:endParaRPr>
          </a:p>
        </p:txBody>
      </p:sp>
    </p:spTree>
    <p:extLst>
      <p:ext uri="{BB962C8B-B14F-4D97-AF65-F5344CB8AC3E}">
        <p14:creationId xmlns:p14="http://schemas.microsoft.com/office/powerpoint/2010/main" val="31950028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7" name="Rectangle 3086">
            <a:extLst>
              <a:ext uri="{FF2B5EF4-FFF2-40B4-BE49-F238E27FC236}">
                <a16:creationId xmlns:a16="http://schemas.microsoft.com/office/drawing/2014/main" id="{F94AA2BD-2E3F-4B1D-8127-5744B8115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320BC787-9884-AB60-BFD2-494E295C901F}"/>
              </a:ext>
            </a:extLst>
          </p:cNvPr>
          <p:cNvSpPr>
            <a:spLocks noGrp="1"/>
          </p:cNvSpPr>
          <p:nvPr>
            <p:ph type="title"/>
          </p:nvPr>
        </p:nvSpPr>
        <p:spPr>
          <a:xfrm>
            <a:off x="411480" y="987552"/>
            <a:ext cx="4485861" cy="1088136"/>
          </a:xfrm>
        </p:spPr>
        <p:txBody>
          <a:bodyPr anchor="b">
            <a:normAutofit/>
          </a:bodyPr>
          <a:lstStyle/>
          <a:p>
            <a:r>
              <a:rPr lang="fr-FR" sz="3400"/>
              <a:t>AI technology and system</a:t>
            </a:r>
          </a:p>
        </p:txBody>
      </p:sp>
      <p:sp>
        <p:nvSpPr>
          <p:cNvPr id="3088" name="Rectangle 3087">
            <a:extLst>
              <a:ext uri="{FF2B5EF4-FFF2-40B4-BE49-F238E27FC236}">
                <a16:creationId xmlns:a16="http://schemas.microsoft.com/office/drawing/2014/main" id="{4BD02261-2DC8-4AA8-9E16-7751AE8924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089" name="Rectangle 3088">
            <a:extLst>
              <a:ext uri="{FF2B5EF4-FFF2-40B4-BE49-F238E27FC236}">
                <a16:creationId xmlns:a16="http://schemas.microsoft.com/office/drawing/2014/main" id="{3D752CF2-2291-40B5-B462-C17B174C10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6000"/>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Espace réservé du contenu 2">
            <a:extLst>
              <a:ext uri="{FF2B5EF4-FFF2-40B4-BE49-F238E27FC236}">
                <a16:creationId xmlns:a16="http://schemas.microsoft.com/office/drawing/2014/main" id="{D5D9B13F-A92E-7AD4-A689-021B6D688E74}"/>
              </a:ext>
            </a:extLst>
          </p:cNvPr>
          <p:cNvSpPr>
            <a:spLocks noGrp="1"/>
          </p:cNvSpPr>
          <p:nvPr>
            <p:ph idx="1"/>
          </p:nvPr>
        </p:nvSpPr>
        <p:spPr>
          <a:xfrm>
            <a:off x="411479" y="2688336"/>
            <a:ext cx="4498848" cy="3584448"/>
          </a:xfrm>
        </p:spPr>
        <p:txBody>
          <a:bodyPr anchor="t">
            <a:normAutofit/>
          </a:bodyPr>
          <a:lstStyle/>
          <a:p>
            <a:endParaRPr lang="fr-FR" sz="1800"/>
          </a:p>
        </p:txBody>
      </p:sp>
      <p:pic>
        <p:nvPicPr>
          <p:cNvPr id="3074" name="Picture 2" descr="The Impact of Artificial Intelligence (AI) on Business | IT Chronicles">
            <a:extLst>
              <a:ext uri="{FF2B5EF4-FFF2-40B4-BE49-F238E27FC236}">
                <a16:creationId xmlns:a16="http://schemas.microsoft.com/office/drawing/2014/main" id="{9690F789-BD2D-8D30-93B5-998F89ECE7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8820" r="14177" b="-1"/>
          <a:stretch/>
        </p:blipFill>
        <p:spPr bwMode="auto">
          <a:xfrm>
            <a:off x="5308052" y="10"/>
            <a:ext cx="6883948" cy="6857990"/>
          </a:xfrm>
          <a:custGeom>
            <a:avLst/>
            <a:gdLst/>
            <a:ahLst/>
            <a:cxnLst/>
            <a:rect l="l" t="t" r="r" b="b"/>
            <a:pathLst>
              <a:path w="6883948" h="6858000">
                <a:moveTo>
                  <a:pt x="365648" y="0"/>
                </a:moveTo>
                <a:lnTo>
                  <a:pt x="6883948" y="0"/>
                </a:lnTo>
                <a:lnTo>
                  <a:pt x="6883948" y="6858000"/>
                </a:lnTo>
                <a:lnTo>
                  <a:pt x="365648" y="6858000"/>
                </a:lnTo>
                <a:lnTo>
                  <a:pt x="360213" y="6835050"/>
                </a:lnTo>
                <a:cubicBezTo>
                  <a:pt x="128263" y="5788167"/>
                  <a:pt x="0" y="4637179"/>
                  <a:pt x="0" y="3429001"/>
                </a:cubicBezTo>
                <a:cubicBezTo>
                  <a:pt x="0" y="2220824"/>
                  <a:pt x="128263" y="1069835"/>
                  <a:pt x="360213" y="22952"/>
                </a:cubicBezTo>
                <a:close/>
              </a:path>
            </a:pathLst>
          </a:custGeom>
          <a:noFill/>
          <a:effectLst>
            <a:outerShdw blurRad="50800" dist="38100" dir="10800000" algn="r" rotWithShape="0">
              <a:schemeClr val="bg1">
                <a:lumMod val="85000"/>
                <a:alpha val="30000"/>
              </a:scheme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24152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F94AA2BD-2E3F-4B1D-8127-5744B8115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A7EE8E24-4D4B-ECCE-6565-9AF9E3018894}"/>
              </a:ext>
            </a:extLst>
          </p:cNvPr>
          <p:cNvSpPr>
            <a:spLocks noGrp="1"/>
          </p:cNvSpPr>
          <p:nvPr>
            <p:ph type="title"/>
          </p:nvPr>
        </p:nvSpPr>
        <p:spPr>
          <a:xfrm>
            <a:off x="411480" y="987552"/>
            <a:ext cx="4485861" cy="1088136"/>
          </a:xfrm>
        </p:spPr>
        <p:txBody>
          <a:bodyPr anchor="b">
            <a:normAutofit/>
          </a:bodyPr>
          <a:lstStyle/>
          <a:p>
            <a:r>
              <a:rPr lang="fr-FR" sz="3400"/>
              <a:t>BioSync App</a:t>
            </a:r>
          </a:p>
        </p:txBody>
      </p:sp>
      <p:sp>
        <p:nvSpPr>
          <p:cNvPr id="21" name="Rectangle 20">
            <a:extLst>
              <a:ext uri="{FF2B5EF4-FFF2-40B4-BE49-F238E27FC236}">
                <a16:creationId xmlns:a16="http://schemas.microsoft.com/office/drawing/2014/main" id="{4BD02261-2DC8-4AA8-9E16-7751AE8924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3" name="Rectangle 22">
            <a:extLst>
              <a:ext uri="{FF2B5EF4-FFF2-40B4-BE49-F238E27FC236}">
                <a16:creationId xmlns:a16="http://schemas.microsoft.com/office/drawing/2014/main" id="{3D752CF2-2291-40B5-B462-C17B174C10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6000"/>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9" name="Content Placeholder 8">
            <a:extLst>
              <a:ext uri="{FF2B5EF4-FFF2-40B4-BE49-F238E27FC236}">
                <a16:creationId xmlns:a16="http://schemas.microsoft.com/office/drawing/2014/main" id="{20900DCA-A661-244E-2819-5C608A11C0AF}"/>
              </a:ext>
            </a:extLst>
          </p:cNvPr>
          <p:cNvSpPr>
            <a:spLocks noGrp="1"/>
          </p:cNvSpPr>
          <p:nvPr>
            <p:ph idx="1"/>
          </p:nvPr>
        </p:nvSpPr>
        <p:spPr>
          <a:xfrm>
            <a:off x="411479" y="2688336"/>
            <a:ext cx="4498848" cy="3584448"/>
          </a:xfrm>
        </p:spPr>
        <p:txBody>
          <a:bodyPr anchor="t">
            <a:normAutofit/>
          </a:bodyPr>
          <a:lstStyle/>
          <a:p>
            <a:endParaRPr lang="en-US" sz="1800"/>
          </a:p>
        </p:txBody>
      </p:sp>
      <p:pic>
        <p:nvPicPr>
          <p:cNvPr id="5" name="Espace réservé du contenu 4" descr="Une image contenant Téléphone mobile, Appareil de communications portable, gadget, Appareil de communication&#10;&#10;Description générée automatiquement">
            <a:extLst>
              <a:ext uri="{FF2B5EF4-FFF2-40B4-BE49-F238E27FC236}">
                <a16:creationId xmlns:a16="http://schemas.microsoft.com/office/drawing/2014/main" id="{1EC94D36-952F-1148-940C-3480019AA6AD}"/>
              </a:ext>
            </a:extLst>
          </p:cNvPr>
          <p:cNvPicPr>
            <a:picLocks noChangeAspect="1"/>
          </p:cNvPicPr>
          <p:nvPr/>
        </p:nvPicPr>
        <p:blipFill>
          <a:blip r:embed="rId3">
            <a:extLst>
              <a:ext uri="{28A0092B-C50C-407E-A947-70E740481C1C}">
                <a14:useLocalDpi xmlns:a14="http://schemas.microsoft.com/office/drawing/2010/main" val="0"/>
              </a:ext>
            </a:extLst>
          </a:blip>
          <a:srcRect r="16937"/>
          <a:stretch/>
        </p:blipFill>
        <p:spPr>
          <a:xfrm>
            <a:off x="5308052" y="10"/>
            <a:ext cx="6883948" cy="6857990"/>
          </a:xfrm>
          <a:custGeom>
            <a:avLst/>
            <a:gdLst/>
            <a:ahLst/>
            <a:cxnLst/>
            <a:rect l="l" t="t" r="r" b="b"/>
            <a:pathLst>
              <a:path w="6883948" h="6858000">
                <a:moveTo>
                  <a:pt x="365648" y="0"/>
                </a:moveTo>
                <a:lnTo>
                  <a:pt x="6883948" y="0"/>
                </a:lnTo>
                <a:lnTo>
                  <a:pt x="6883948" y="6858000"/>
                </a:lnTo>
                <a:lnTo>
                  <a:pt x="365648" y="6858000"/>
                </a:lnTo>
                <a:lnTo>
                  <a:pt x="360213" y="6835050"/>
                </a:lnTo>
                <a:cubicBezTo>
                  <a:pt x="128263" y="5788167"/>
                  <a:pt x="0" y="4637179"/>
                  <a:pt x="0" y="3429001"/>
                </a:cubicBezTo>
                <a:cubicBezTo>
                  <a:pt x="0" y="2220824"/>
                  <a:pt x="128263" y="1069835"/>
                  <a:pt x="360213" y="22952"/>
                </a:cubicBezTo>
                <a:close/>
              </a:path>
            </a:pathLst>
          </a:custGeom>
          <a:effectLst>
            <a:outerShdw blurRad="50800" dist="38100" dir="10800000" algn="r" rotWithShape="0">
              <a:schemeClr val="bg1">
                <a:lumMod val="85000"/>
                <a:alpha val="30000"/>
              </a:schemeClr>
            </a:outerShdw>
          </a:effectLst>
        </p:spPr>
      </p:pic>
    </p:spTree>
    <p:extLst>
      <p:ext uri="{BB962C8B-B14F-4D97-AF65-F5344CB8AC3E}">
        <p14:creationId xmlns:p14="http://schemas.microsoft.com/office/powerpoint/2010/main" val="33495494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F367A72-E0F9-A33C-16FC-46E48D5C4644}"/>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AA72BD9-2C5A-4EDC-931F-5AA08EACA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2" descr="Key features flat concept icon Royalty Free Vector Image">
            <a:extLst>
              <a:ext uri="{FF2B5EF4-FFF2-40B4-BE49-F238E27FC236}">
                <a16:creationId xmlns:a16="http://schemas.microsoft.com/office/drawing/2014/main" id="{BB70739A-5303-9B90-763D-2364A91A99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20945" r="9090" b="12534"/>
          <a:stretch/>
        </p:blipFill>
        <p:spPr bwMode="auto">
          <a:xfrm>
            <a:off x="3522468" y="10"/>
            <a:ext cx="8669532" cy="6857990"/>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a:extLst>
              <a:ext uri="{FF2B5EF4-FFF2-40B4-BE49-F238E27FC236}">
                <a16:creationId xmlns:a16="http://schemas.microsoft.com/office/drawing/2014/main" id="{DD3981AC-7B61-4947-BCF3-F7AA7FA38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tx1"/>
              </a:gs>
              <a:gs pos="35000">
                <a:schemeClr val="tx1">
                  <a:alpha val="78000"/>
                </a:schemeClr>
              </a:gs>
              <a:gs pos="19000">
                <a:schemeClr val="tx1">
                  <a:alpha val="38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re 1">
            <a:extLst>
              <a:ext uri="{FF2B5EF4-FFF2-40B4-BE49-F238E27FC236}">
                <a16:creationId xmlns:a16="http://schemas.microsoft.com/office/drawing/2014/main" id="{D0A74A30-2B29-4FE5-0F45-DA26078C8E2D}"/>
              </a:ext>
            </a:extLst>
          </p:cNvPr>
          <p:cNvSpPr txBox="1">
            <a:spLocks/>
          </p:cNvSpPr>
          <p:nvPr/>
        </p:nvSpPr>
        <p:spPr>
          <a:xfrm>
            <a:off x="371094" y="1161288"/>
            <a:ext cx="3438144" cy="112471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2800">
                <a:solidFill>
                  <a:schemeClr val="bg1"/>
                </a:solidFill>
              </a:rPr>
              <a:t>Key Features</a:t>
            </a:r>
          </a:p>
        </p:txBody>
      </p:sp>
      <p:sp>
        <p:nvSpPr>
          <p:cNvPr id="17" name="Rectangle 16">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9" name="Rectangle 18">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chemeClr val="tx1"/>
          </a:solid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079795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223" name="Rectangle 9222">
            <a:extLst>
              <a:ext uri="{FF2B5EF4-FFF2-40B4-BE49-F238E27FC236}">
                <a16:creationId xmlns:a16="http://schemas.microsoft.com/office/drawing/2014/main" id="{F94AA2BD-2E3F-4B1D-8127-5744B8115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077F9635-A8E6-259B-9BAA-BB901A744049}"/>
              </a:ext>
            </a:extLst>
          </p:cNvPr>
          <p:cNvSpPr>
            <a:spLocks noGrp="1"/>
          </p:cNvSpPr>
          <p:nvPr>
            <p:ph type="title"/>
          </p:nvPr>
        </p:nvSpPr>
        <p:spPr>
          <a:xfrm>
            <a:off x="411480" y="987552"/>
            <a:ext cx="4485861" cy="1088136"/>
          </a:xfrm>
        </p:spPr>
        <p:txBody>
          <a:bodyPr anchor="b">
            <a:normAutofit/>
          </a:bodyPr>
          <a:lstStyle/>
          <a:p>
            <a:r>
              <a:rPr lang="fr-FR" sz="3400" b="0" i="0">
                <a:effectLst/>
                <a:latin typeface="gg sans"/>
              </a:rPr>
              <a:t>AI Automation</a:t>
            </a:r>
            <a:endParaRPr lang="fr-FR" sz="3400"/>
          </a:p>
        </p:txBody>
      </p:sp>
      <p:sp>
        <p:nvSpPr>
          <p:cNvPr id="9225" name="Rectangle 9224">
            <a:extLst>
              <a:ext uri="{FF2B5EF4-FFF2-40B4-BE49-F238E27FC236}">
                <a16:creationId xmlns:a16="http://schemas.microsoft.com/office/drawing/2014/main" id="{4BD02261-2DC8-4AA8-9E16-7751AE8924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9227" name="Rectangle 9226">
            <a:extLst>
              <a:ext uri="{FF2B5EF4-FFF2-40B4-BE49-F238E27FC236}">
                <a16:creationId xmlns:a16="http://schemas.microsoft.com/office/drawing/2014/main" id="{3D752CF2-2291-40B5-B462-C17B174C10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6000"/>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Espace réservé du contenu 2">
            <a:extLst>
              <a:ext uri="{FF2B5EF4-FFF2-40B4-BE49-F238E27FC236}">
                <a16:creationId xmlns:a16="http://schemas.microsoft.com/office/drawing/2014/main" id="{1239A32B-5FE8-8621-6C68-BC38E501CBBE}"/>
              </a:ext>
            </a:extLst>
          </p:cNvPr>
          <p:cNvSpPr>
            <a:spLocks noGrp="1"/>
          </p:cNvSpPr>
          <p:nvPr>
            <p:ph idx="1"/>
          </p:nvPr>
        </p:nvSpPr>
        <p:spPr>
          <a:xfrm>
            <a:off x="411479" y="2688336"/>
            <a:ext cx="4498848" cy="3584448"/>
          </a:xfrm>
        </p:spPr>
        <p:txBody>
          <a:bodyPr anchor="t">
            <a:normAutofit/>
          </a:bodyPr>
          <a:lstStyle/>
          <a:p>
            <a:endParaRPr lang="fr-FR" sz="1800"/>
          </a:p>
        </p:txBody>
      </p:sp>
      <p:pic>
        <p:nvPicPr>
          <p:cNvPr id="9218" name="Picture 2" descr="Best AI Test Automation Tools in 2024 | Binmile">
            <a:extLst>
              <a:ext uri="{FF2B5EF4-FFF2-40B4-BE49-F238E27FC236}">
                <a16:creationId xmlns:a16="http://schemas.microsoft.com/office/drawing/2014/main" id="{2ADA515C-6DCE-7128-0F62-52B67BC619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4297" r="8699" b="-1"/>
          <a:stretch/>
        </p:blipFill>
        <p:spPr bwMode="auto">
          <a:xfrm>
            <a:off x="5308052" y="10"/>
            <a:ext cx="6883948" cy="6857990"/>
          </a:xfrm>
          <a:custGeom>
            <a:avLst/>
            <a:gdLst/>
            <a:ahLst/>
            <a:cxnLst/>
            <a:rect l="l" t="t" r="r" b="b"/>
            <a:pathLst>
              <a:path w="6883948" h="6858000">
                <a:moveTo>
                  <a:pt x="365648" y="0"/>
                </a:moveTo>
                <a:lnTo>
                  <a:pt x="6883948" y="0"/>
                </a:lnTo>
                <a:lnTo>
                  <a:pt x="6883948" y="6858000"/>
                </a:lnTo>
                <a:lnTo>
                  <a:pt x="365648" y="6858000"/>
                </a:lnTo>
                <a:lnTo>
                  <a:pt x="360213" y="6835050"/>
                </a:lnTo>
                <a:cubicBezTo>
                  <a:pt x="128263" y="5788167"/>
                  <a:pt x="0" y="4637179"/>
                  <a:pt x="0" y="3429001"/>
                </a:cubicBezTo>
                <a:cubicBezTo>
                  <a:pt x="0" y="2220824"/>
                  <a:pt x="128263" y="1069835"/>
                  <a:pt x="360213" y="22952"/>
                </a:cubicBezTo>
                <a:close/>
              </a:path>
            </a:pathLst>
          </a:custGeom>
          <a:noFill/>
          <a:effectLst>
            <a:outerShdw blurRad="50800" dist="38100" dir="10800000" algn="r" rotWithShape="0">
              <a:schemeClr val="bg1">
                <a:lumMod val="85000"/>
                <a:alpha val="30000"/>
              </a:scheme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14059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247" name="Rectangle 10246">
            <a:extLst>
              <a:ext uri="{FF2B5EF4-FFF2-40B4-BE49-F238E27FC236}">
                <a16:creationId xmlns:a16="http://schemas.microsoft.com/office/drawing/2014/main" id="{F94AA2BD-2E3F-4B1D-8127-5744B8115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D1B69AD4-8FC5-36EB-1993-FF72AFD69B26}"/>
              </a:ext>
            </a:extLst>
          </p:cNvPr>
          <p:cNvSpPr>
            <a:spLocks noGrp="1"/>
          </p:cNvSpPr>
          <p:nvPr>
            <p:ph type="title"/>
          </p:nvPr>
        </p:nvSpPr>
        <p:spPr>
          <a:xfrm>
            <a:off x="411480" y="987552"/>
            <a:ext cx="4485861" cy="1088136"/>
          </a:xfrm>
        </p:spPr>
        <p:txBody>
          <a:bodyPr anchor="b">
            <a:normAutofit/>
          </a:bodyPr>
          <a:lstStyle/>
          <a:p>
            <a:r>
              <a:rPr lang="fr-FR" sz="3400" b="0" i="0">
                <a:effectLst/>
                <a:latin typeface="gg sans"/>
              </a:rPr>
              <a:t>Compact Design</a:t>
            </a:r>
            <a:endParaRPr lang="fr-FR" sz="3400"/>
          </a:p>
        </p:txBody>
      </p:sp>
      <p:sp>
        <p:nvSpPr>
          <p:cNvPr id="10249" name="Rectangle 10248">
            <a:extLst>
              <a:ext uri="{FF2B5EF4-FFF2-40B4-BE49-F238E27FC236}">
                <a16:creationId xmlns:a16="http://schemas.microsoft.com/office/drawing/2014/main" id="{4BD02261-2DC8-4AA8-9E16-7751AE8924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0251" name="Rectangle 10250">
            <a:extLst>
              <a:ext uri="{FF2B5EF4-FFF2-40B4-BE49-F238E27FC236}">
                <a16:creationId xmlns:a16="http://schemas.microsoft.com/office/drawing/2014/main" id="{3D752CF2-2291-40B5-B462-C17B174C10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6000"/>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Espace réservé du contenu 2">
            <a:extLst>
              <a:ext uri="{FF2B5EF4-FFF2-40B4-BE49-F238E27FC236}">
                <a16:creationId xmlns:a16="http://schemas.microsoft.com/office/drawing/2014/main" id="{111EFF90-F3C3-F84A-EC49-BE0E24DEE630}"/>
              </a:ext>
            </a:extLst>
          </p:cNvPr>
          <p:cNvSpPr>
            <a:spLocks noGrp="1"/>
          </p:cNvSpPr>
          <p:nvPr>
            <p:ph idx="1"/>
          </p:nvPr>
        </p:nvSpPr>
        <p:spPr>
          <a:xfrm>
            <a:off x="411479" y="2688336"/>
            <a:ext cx="4498848" cy="3584448"/>
          </a:xfrm>
        </p:spPr>
        <p:txBody>
          <a:bodyPr anchor="t">
            <a:normAutofit/>
          </a:bodyPr>
          <a:lstStyle/>
          <a:p>
            <a:endParaRPr lang="fr-FR" sz="1800"/>
          </a:p>
        </p:txBody>
      </p:sp>
      <p:pic>
        <p:nvPicPr>
          <p:cNvPr id="10242" name="Picture 2" descr="The Best Compact Furniture Designs For Tiny Apartments - Top Dreamer">
            <a:extLst>
              <a:ext uri="{FF2B5EF4-FFF2-40B4-BE49-F238E27FC236}">
                <a16:creationId xmlns:a16="http://schemas.microsoft.com/office/drawing/2014/main" id="{D6C312B8-DACA-5E7F-5FB4-79FBDA1045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3355" r="2" b="30895"/>
          <a:stretch/>
        </p:blipFill>
        <p:spPr bwMode="auto">
          <a:xfrm>
            <a:off x="5308052" y="10"/>
            <a:ext cx="6883948" cy="6857990"/>
          </a:xfrm>
          <a:custGeom>
            <a:avLst/>
            <a:gdLst/>
            <a:ahLst/>
            <a:cxnLst/>
            <a:rect l="l" t="t" r="r" b="b"/>
            <a:pathLst>
              <a:path w="6883948" h="6858000">
                <a:moveTo>
                  <a:pt x="365648" y="0"/>
                </a:moveTo>
                <a:lnTo>
                  <a:pt x="6883948" y="0"/>
                </a:lnTo>
                <a:lnTo>
                  <a:pt x="6883948" y="6858000"/>
                </a:lnTo>
                <a:lnTo>
                  <a:pt x="365648" y="6858000"/>
                </a:lnTo>
                <a:lnTo>
                  <a:pt x="360213" y="6835050"/>
                </a:lnTo>
                <a:cubicBezTo>
                  <a:pt x="128263" y="5788167"/>
                  <a:pt x="0" y="4637179"/>
                  <a:pt x="0" y="3429001"/>
                </a:cubicBezTo>
                <a:cubicBezTo>
                  <a:pt x="0" y="2220824"/>
                  <a:pt x="128263" y="1069835"/>
                  <a:pt x="360213" y="22952"/>
                </a:cubicBezTo>
                <a:close/>
              </a:path>
            </a:pathLst>
          </a:custGeom>
          <a:noFill/>
          <a:effectLst>
            <a:outerShdw blurRad="50800" dist="38100" dir="10800000" algn="r" rotWithShape="0">
              <a:schemeClr val="bg1">
                <a:lumMod val="85000"/>
                <a:alpha val="30000"/>
              </a:scheme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84719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295" name="Rectangle 12294">
            <a:extLst>
              <a:ext uri="{FF2B5EF4-FFF2-40B4-BE49-F238E27FC236}">
                <a16:creationId xmlns:a16="http://schemas.microsoft.com/office/drawing/2014/main" id="{F94AA2BD-2E3F-4B1D-8127-5744B8115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637110D2-AC39-C66F-915F-AA7B9796E0C3}"/>
              </a:ext>
            </a:extLst>
          </p:cNvPr>
          <p:cNvSpPr>
            <a:spLocks noGrp="1"/>
          </p:cNvSpPr>
          <p:nvPr>
            <p:ph type="title"/>
          </p:nvPr>
        </p:nvSpPr>
        <p:spPr>
          <a:xfrm>
            <a:off x="411480" y="987552"/>
            <a:ext cx="4485861" cy="1088136"/>
          </a:xfrm>
        </p:spPr>
        <p:txBody>
          <a:bodyPr anchor="b">
            <a:normAutofit/>
          </a:bodyPr>
          <a:lstStyle/>
          <a:p>
            <a:r>
              <a:rPr lang="fr-FR" sz="3400" b="0" i="0">
                <a:effectLst/>
                <a:latin typeface="gg sans"/>
              </a:rPr>
              <a:t>Smart Connectivity</a:t>
            </a:r>
            <a:endParaRPr lang="fr-FR" sz="3400"/>
          </a:p>
        </p:txBody>
      </p:sp>
      <p:sp>
        <p:nvSpPr>
          <p:cNvPr id="12297" name="Rectangle 12296">
            <a:extLst>
              <a:ext uri="{FF2B5EF4-FFF2-40B4-BE49-F238E27FC236}">
                <a16:creationId xmlns:a16="http://schemas.microsoft.com/office/drawing/2014/main" id="{4BD02261-2DC8-4AA8-9E16-7751AE8924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2299" name="Rectangle 12298">
            <a:extLst>
              <a:ext uri="{FF2B5EF4-FFF2-40B4-BE49-F238E27FC236}">
                <a16:creationId xmlns:a16="http://schemas.microsoft.com/office/drawing/2014/main" id="{3D752CF2-2291-40B5-B462-C17B174C10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6000"/>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Espace réservé du contenu 2">
            <a:extLst>
              <a:ext uri="{FF2B5EF4-FFF2-40B4-BE49-F238E27FC236}">
                <a16:creationId xmlns:a16="http://schemas.microsoft.com/office/drawing/2014/main" id="{7284F0A7-2209-6BA7-A346-BDC5060EFD2B}"/>
              </a:ext>
            </a:extLst>
          </p:cNvPr>
          <p:cNvSpPr>
            <a:spLocks noGrp="1"/>
          </p:cNvSpPr>
          <p:nvPr>
            <p:ph idx="1"/>
          </p:nvPr>
        </p:nvSpPr>
        <p:spPr>
          <a:xfrm>
            <a:off x="411479" y="2688336"/>
            <a:ext cx="4498848" cy="3584448"/>
          </a:xfrm>
        </p:spPr>
        <p:txBody>
          <a:bodyPr anchor="t">
            <a:normAutofit/>
          </a:bodyPr>
          <a:lstStyle/>
          <a:p>
            <a:endParaRPr lang="fr-FR" sz="1800"/>
          </a:p>
        </p:txBody>
      </p:sp>
      <p:pic>
        <p:nvPicPr>
          <p:cNvPr id="12290" name="Picture 2" descr="What are the latest connectivity trends in smart buildings? - EnOcean Blog">
            <a:extLst>
              <a:ext uri="{FF2B5EF4-FFF2-40B4-BE49-F238E27FC236}">
                <a16:creationId xmlns:a16="http://schemas.microsoft.com/office/drawing/2014/main" id="{274037F9-A34B-FE27-77D7-DEAB296849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4730" r="8769" b="-1"/>
          <a:stretch/>
        </p:blipFill>
        <p:spPr bwMode="auto">
          <a:xfrm>
            <a:off x="5308052" y="10"/>
            <a:ext cx="6883948" cy="6857990"/>
          </a:xfrm>
          <a:custGeom>
            <a:avLst/>
            <a:gdLst/>
            <a:ahLst/>
            <a:cxnLst/>
            <a:rect l="l" t="t" r="r" b="b"/>
            <a:pathLst>
              <a:path w="6883948" h="6858000">
                <a:moveTo>
                  <a:pt x="365648" y="0"/>
                </a:moveTo>
                <a:lnTo>
                  <a:pt x="6883948" y="0"/>
                </a:lnTo>
                <a:lnTo>
                  <a:pt x="6883948" y="6858000"/>
                </a:lnTo>
                <a:lnTo>
                  <a:pt x="365648" y="6858000"/>
                </a:lnTo>
                <a:lnTo>
                  <a:pt x="360213" y="6835050"/>
                </a:lnTo>
                <a:cubicBezTo>
                  <a:pt x="128263" y="5788167"/>
                  <a:pt x="0" y="4637179"/>
                  <a:pt x="0" y="3429001"/>
                </a:cubicBezTo>
                <a:cubicBezTo>
                  <a:pt x="0" y="2220824"/>
                  <a:pt x="128263" y="1069835"/>
                  <a:pt x="360213" y="22952"/>
                </a:cubicBezTo>
                <a:close/>
              </a:path>
            </a:pathLst>
          </a:custGeom>
          <a:noFill/>
          <a:effectLst>
            <a:outerShdw blurRad="50800" dist="38100" dir="10800000" algn="r" rotWithShape="0">
              <a:schemeClr val="bg1">
                <a:lumMod val="85000"/>
                <a:alpha val="30000"/>
              </a:scheme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40933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321" name="Rectangle 13320">
            <a:extLst>
              <a:ext uri="{FF2B5EF4-FFF2-40B4-BE49-F238E27FC236}">
                <a16:creationId xmlns:a16="http://schemas.microsoft.com/office/drawing/2014/main" id="{F94AA2BD-2E3F-4B1D-8127-5744B8115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9FAC5618-B8BD-5CD2-B3BB-028C26D97600}"/>
              </a:ext>
            </a:extLst>
          </p:cNvPr>
          <p:cNvSpPr>
            <a:spLocks noGrp="1"/>
          </p:cNvSpPr>
          <p:nvPr>
            <p:ph type="title"/>
          </p:nvPr>
        </p:nvSpPr>
        <p:spPr>
          <a:xfrm>
            <a:off x="411480" y="987552"/>
            <a:ext cx="4485861" cy="1088136"/>
          </a:xfrm>
        </p:spPr>
        <p:txBody>
          <a:bodyPr anchor="b">
            <a:normAutofit/>
          </a:bodyPr>
          <a:lstStyle/>
          <a:p>
            <a:r>
              <a:rPr lang="fr-FR" sz="3400" b="0" i="0">
                <a:effectLst/>
                <a:latin typeface="gg sans"/>
              </a:rPr>
              <a:t>User-Friendly Interface</a:t>
            </a:r>
            <a:endParaRPr lang="fr-FR" sz="3400"/>
          </a:p>
        </p:txBody>
      </p:sp>
      <p:sp>
        <p:nvSpPr>
          <p:cNvPr id="13323" name="Rectangle 13322">
            <a:extLst>
              <a:ext uri="{FF2B5EF4-FFF2-40B4-BE49-F238E27FC236}">
                <a16:creationId xmlns:a16="http://schemas.microsoft.com/office/drawing/2014/main" id="{4BD02261-2DC8-4AA8-9E16-7751AE8924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325" name="Rectangle 13324">
            <a:extLst>
              <a:ext uri="{FF2B5EF4-FFF2-40B4-BE49-F238E27FC236}">
                <a16:creationId xmlns:a16="http://schemas.microsoft.com/office/drawing/2014/main" id="{3D752CF2-2291-40B5-B462-C17B174C10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6000"/>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318" name="Content Placeholder 13317">
            <a:extLst>
              <a:ext uri="{FF2B5EF4-FFF2-40B4-BE49-F238E27FC236}">
                <a16:creationId xmlns:a16="http://schemas.microsoft.com/office/drawing/2014/main" id="{486E45B0-F00B-17BA-193A-9FA9C52E03E2}"/>
              </a:ext>
            </a:extLst>
          </p:cNvPr>
          <p:cNvSpPr>
            <a:spLocks noGrp="1"/>
          </p:cNvSpPr>
          <p:nvPr>
            <p:ph idx="1"/>
          </p:nvPr>
        </p:nvSpPr>
        <p:spPr>
          <a:xfrm>
            <a:off x="411479" y="2688336"/>
            <a:ext cx="4498848" cy="3584448"/>
          </a:xfrm>
        </p:spPr>
        <p:txBody>
          <a:bodyPr anchor="t">
            <a:normAutofit/>
          </a:bodyPr>
          <a:lstStyle/>
          <a:p>
            <a:endParaRPr lang="en-US" sz="1800"/>
          </a:p>
        </p:txBody>
      </p:sp>
      <p:pic>
        <p:nvPicPr>
          <p:cNvPr id="13314" name="Picture 2" descr="NEW 17&quot; Touch Screen POS TFT LCD TouchScreen Monitor Restaurant Bar Pub ...">
            <a:extLst>
              <a:ext uri="{FF2B5EF4-FFF2-40B4-BE49-F238E27FC236}">
                <a16:creationId xmlns:a16="http://schemas.microsoft.com/office/drawing/2014/main" id="{54E16DEA-3FF7-E4D4-58BA-6DE1B9C661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2738" r="30799"/>
          <a:stretch/>
        </p:blipFill>
        <p:spPr bwMode="auto">
          <a:xfrm>
            <a:off x="5308052" y="10"/>
            <a:ext cx="6883948" cy="6857990"/>
          </a:xfrm>
          <a:custGeom>
            <a:avLst/>
            <a:gdLst/>
            <a:ahLst/>
            <a:cxnLst/>
            <a:rect l="l" t="t" r="r" b="b"/>
            <a:pathLst>
              <a:path w="6883948" h="6858000">
                <a:moveTo>
                  <a:pt x="365648" y="0"/>
                </a:moveTo>
                <a:lnTo>
                  <a:pt x="6883948" y="0"/>
                </a:lnTo>
                <a:lnTo>
                  <a:pt x="6883948" y="6858000"/>
                </a:lnTo>
                <a:lnTo>
                  <a:pt x="365648" y="6858000"/>
                </a:lnTo>
                <a:lnTo>
                  <a:pt x="360213" y="6835050"/>
                </a:lnTo>
                <a:cubicBezTo>
                  <a:pt x="128263" y="5788167"/>
                  <a:pt x="0" y="4637179"/>
                  <a:pt x="0" y="3429001"/>
                </a:cubicBezTo>
                <a:cubicBezTo>
                  <a:pt x="0" y="2220824"/>
                  <a:pt x="128263" y="1069835"/>
                  <a:pt x="360213" y="22952"/>
                </a:cubicBezTo>
                <a:close/>
              </a:path>
            </a:pathLst>
          </a:custGeom>
          <a:noFill/>
          <a:effectLst>
            <a:outerShdw blurRad="50800" dist="38100" dir="10800000" algn="r" rotWithShape="0">
              <a:schemeClr val="bg1">
                <a:lumMod val="85000"/>
                <a:alpha val="30000"/>
              </a:scheme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14349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AA72BD9-2C5A-4EDC-931F-5AA08EACA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Espace réservé du contenu 4" descr="Une image contenant texte, capture d’écran, Police&#10;&#10;Description générée automatiquement">
            <a:extLst>
              <a:ext uri="{FF2B5EF4-FFF2-40B4-BE49-F238E27FC236}">
                <a16:creationId xmlns:a16="http://schemas.microsoft.com/office/drawing/2014/main" id="{39EA7B38-5977-D40C-D7A4-D018BC6E1E43}"/>
              </a:ext>
            </a:extLst>
          </p:cNvPr>
          <p:cNvPicPr>
            <a:picLocks noChangeAspect="1"/>
          </p:cNvPicPr>
          <p:nvPr/>
        </p:nvPicPr>
        <p:blipFill>
          <a:blip r:embed="rId2">
            <a:extLst>
              <a:ext uri="{28A0092B-C50C-407E-A947-70E740481C1C}">
                <a14:useLocalDpi xmlns:a14="http://schemas.microsoft.com/office/drawing/2010/main" val="0"/>
              </a:ext>
            </a:extLst>
          </a:blip>
          <a:srcRect r="29196" b="-1"/>
          <a:stretch/>
        </p:blipFill>
        <p:spPr>
          <a:xfrm>
            <a:off x="3522468" y="10"/>
            <a:ext cx="8669532" cy="6857990"/>
          </a:xfrm>
          <a:prstGeom prst="rect">
            <a:avLst/>
          </a:prstGeom>
        </p:spPr>
      </p:pic>
      <p:sp>
        <p:nvSpPr>
          <p:cNvPr id="14" name="Rectangle 13">
            <a:extLst>
              <a:ext uri="{FF2B5EF4-FFF2-40B4-BE49-F238E27FC236}">
                <a16:creationId xmlns:a16="http://schemas.microsoft.com/office/drawing/2014/main" id="{DD3981AC-7B61-4947-BCF3-F7AA7FA38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tx1"/>
              </a:gs>
              <a:gs pos="35000">
                <a:schemeClr val="tx1">
                  <a:alpha val="78000"/>
                </a:schemeClr>
              </a:gs>
              <a:gs pos="19000">
                <a:schemeClr val="tx1">
                  <a:alpha val="38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41AEE0D4-B156-483F-6EEF-7CE042901C29}"/>
              </a:ext>
            </a:extLst>
          </p:cNvPr>
          <p:cNvSpPr>
            <a:spLocks noGrp="1"/>
          </p:cNvSpPr>
          <p:nvPr>
            <p:ph type="title"/>
          </p:nvPr>
        </p:nvSpPr>
        <p:spPr>
          <a:xfrm>
            <a:off x="371094" y="1161288"/>
            <a:ext cx="3438144" cy="1124712"/>
          </a:xfrm>
        </p:spPr>
        <p:txBody>
          <a:bodyPr anchor="b">
            <a:normAutofit/>
          </a:bodyPr>
          <a:lstStyle/>
          <a:p>
            <a:r>
              <a:rPr lang="fr-FR" sz="2800">
                <a:solidFill>
                  <a:schemeClr val="bg1"/>
                </a:solidFill>
              </a:rPr>
              <a:t>Global View of the product</a:t>
            </a:r>
          </a:p>
        </p:txBody>
      </p:sp>
      <p:sp>
        <p:nvSpPr>
          <p:cNvPr id="16" name="Rectangle 15">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chemeClr val="tx1"/>
          </a:solid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Content Placeholder 8">
            <a:extLst>
              <a:ext uri="{FF2B5EF4-FFF2-40B4-BE49-F238E27FC236}">
                <a16:creationId xmlns:a16="http://schemas.microsoft.com/office/drawing/2014/main" id="{86A4707C-3151-2C89-EA20-E3C77F888E4B}"/>
              </a:ext>
            </a:extLst>
          </p:cNvPr>
          <p:cNvSpPr>
            <a:spLocks noGrp="1"/>
          </p:cNvSpPr>
          <p:nvPr>
            <p:ph idx="1"/>
          </p:nvPr>
        </p:nvSpPr>
        <p:spPr>
          <a:xfrm>
            <a:off x="371094" y="2718054"/>
            <a:ext cx="3438906" cy="3207258"/>
          </a:xfrm>
        </p:spPr>
        <p:txBody>
          <a:bodyPr anchor="t">
            <a:normAutofit/>
          </a:bodyPr>
          <a:lstStyle/>
          <a:p>
            <a:endParaRPr lang="en-US" sz="1700">
              <a:solidFill>
                <a:schemeClr val="bg1"/>
              </a:solidFill>
            </a:endParaRPr>
          </a:p>
        </p:txBody>
      </p:sp>
    </p:spTree>
    <p:extLst>
      <p:ext uri="{BB962C8B-B14F-4D97-AF65-F5344CB8AC3E}">
        <p14:creationId xmlns:p14="http://schemas.microsoft.com/office/powerpoint/2010/main" val="29172020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AA72BD9-2C5A-4EDC-931F-5AA08EACA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Espace réservé du contenu 4" descr="Une image contenant texte, capture d’écran, diagramme, conception&#10;&#10;Description générée automatiquement">
            <a:extLst>
              <a:ext uri="{FF2B5EF4-FFF2-40B4-BE49-F238E27FC236}">
                <a16:creationId xmlns:a16="http://schemas.microsoft.com/office/drawing/2014/main" id="{78E897DA-8F43-54D4-1653-BFE03B2719F1}"/>
              </a:ext>
            </a:extLst>
          </p:cNvPr>
          <p:cNvPicPr>
            <a:picLocks noChangeAspect="1"/>
          </p:cNvPicPr>
          <p:nvPr/>
        </p:nvPicPr>
        <p:blipFill>
          <a:blip r:embed="rId2">
            <a:extLst>
              <a:ext uri="{28A0092B-C50C-407E-A947-70E740481C1C}">
                <a14:useLocalDpi xmlns:a14="http://schemas.microsoft.com/office/drawing/2010/main" val="0"/>
              </a:ext>
            </a:extLst>
          </a:blip>
          <a:srcRect t="35676" r="4865" b="10704"/>
          <a:stretch/>
        </p:blipFill>
        <p:spPr>
          <a:xfrm>
            <a:off x="3522468" y="10"/>
            <a:ext cx="8669532" cy="6857990"/>
          </a:xfrm>
          <a:prstGeom prst="rect">
            <a:avLst/>
          </a:prstGeom>
        </p:spPr>
      </p:pic>
      <p:sp>
        <p:nvSpPr>
          <p:cNvPr id="14" name="Rectangle 13">
            <a:extLst>
              <a:ext uri="{FF2B5EF4-FFF2-40B4-BE49-F238E27FC236}">
                <a16:creationId xmlns:a16="http://schemas.microsoft.com/office/drawing/2014/main" id="{DD3981AC-7B61-4947-BCF3-F7AA7FA38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tx1"/>
              </a:gs>
              <a:gs pos="35000">
                <a:schemeClr val="tx1">
                  <a:alpha val="78000"/>
                </a:schemeClr>
              </a:gs>
              <a:gs pos="19000">
                <a:schemeClr val="tx1">
                  <a:alpha val="38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D4F938BE-4036-085B-8E8E-FDBCB125867C}"/>
              </a:ext>
            </a:extLst>
          </p:cNvPr>
          <p:cNvSpPr>
            <a:spLocks noGrp="1"/>
          </p:cNvSpPr>
          <p:nvPr>
            <p:ph type="title"/>
          </p:nvPr>
        </p:nvSpPr>
        <p:spPr>
          <a:xfrm>
            <a:off x="371094" y="1161288"/>
            <a:ext cx="3438144" cy="1124712"/>
          </a:xfrm>
        </p:spPr>
        <p:txBody>
          <a:bodyPr anchor="b">
            <a:normAutofit/>
          </a:bodyPr>
          <a:lstStyle/>
          <a:p>
            <a:r>
              <a:rPr lang="fr-FR" sz="2800">
                <a:solidFill>
                  <a:schemeClr val="bg1"/>
                </a:solidFill>
              </a:rPr>
              <a:t>Example of a Sequence</a:t>
            </a:r>
          </a:p>
        </p:txBody>
      </p:sp>
      <p:sp>
        <p:nvSpPr>
          <p:cNvPr id="16" name="Rectangle 15">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chemeClr val="tx1"/>
          </a:solid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Content Placeholder 8">
            <a:extLst>
              <a:ext uri="{FF2B5EF4-FFF2-40B4-BE49-F238E27FC236}">
                <a16:creationId xmlns:a16="http://schemas.microsoft.com/office/drawing/2014/main" id="{6BCE7573-507A-EDE3-567D-9761EB27ABD8}"/>
              </a:ext>
            </a:extLst>
          </p:cNvPr>
          <p:cNvSpPr>
            <a:spLocks noGrp="1"/>
          </p:cNvSpPr>
          <p:nvPr>
            <p:ph idx="1"/>
          </p:nvPr>
        </p:nvSpPr>
        <p:spPr>
          <a:xfrm>
            <a:off x="371094" y="2718054"/>
            <a:ext cx="3438906" cy="3207258"/>
          </a:xfrm>
        </p:spPr>
        <p:txBody>
          <a:bodyPr anchor="t">
            <a:normAutofit/>
          </a:bodyPr>
          <a:lstStyle/>
          <a:p>
            <a:endParaRPr lang="en-US" sz="1700">
              <a:solidFill>
                <a:schemeClr val="bg1"/>
              </a:solidFill>
            </a:endParaRPr>
          </a:p>
        </p:txBody>
      </p:sp>
    </p:spTree>
    <p:extLst>
      <p:ext uri="{BB962C8B-B14F-4D97-AF65-F5344CB8AC3E}">
        <p14:creationId xmlns:p14="http://schemas.microsoft.com/office/powerpoint/2010/main" val="4394047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7" name="Rectangle 5126">
            <a:extLst>
              <a:ext uri="{FF2B5EF4-FFF2-40B4-BE49-F238E27FC236}">
                <a16:creationId xmlns:a16="http://schemas.microsoft.com/office/drawing/2014/main" id="{9AA72BD9-2C5A-4EDC-931F-5AA08EACA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2" name="Picture 2" descr="The Latest in Green Living and Sustainable Energy | NuEnergy">
            <a:extLst>
              <a:ext uri="{FF2B5EF4-FFF2-40B4-BE49-F238E27FC236}">
                <a16:creationId xmlns:a16="http://schemas.microsoft.com/office/drawing/2014/main" id="{BB09D1C5-D78A-D038-7726-2D39124676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38" r="17831" b="9054"/>
          <a:stretch/>
        </p:blipFill>
        <p:spPr bwMode="auto">
          <a:xfrm>
            <a:off x="3522468" y="10"/>
            <a:ext cx="8669532" cy="6857990"/>
          </a:xfrm>
          <a:prstGeom prst="rect">
            <a:avLst/>
          </a:prstGeom>
          <a:noFill/>
          <a:extLst>
            <a:ext uri="{909E8E84-426E-40DD-AFC4-6F175D3DCCD1}">
              <a14:hiddenFill xmlns:a14="http://schemas.microsoft.com/office/drawing/2010/main">
                <a:solidFill>
                  <a:srgbClr val="FFFFFF"/>
                </a:solidFill>
              </a14:hiddenFill>
            </a:ext>
          </a:extLst>
        </p:spPr>
      </p:pic>
      <p:sp>
        <p:nvSpPr>
          <p:cNvPr id="5129" name="Rectangle 5128">
            <a:extLst>
              <a:ext uri="{FF2B5EF4-FFF2-40B4-BE49-F238E27FC236}">
                <a16:creationId xmlns:a16="http://schemas.microsoft.com/office/drawing/2014/main" id="{DD3981AC-7B61-4947-BCF3-F7AA7FA38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tx1"/>
              </a:gs>
              <a:gs pos="35000">
                <a:schemeClr val="tx1">
                  <a:alpha val="78000"/>
                </a:schemeClr>
              </a:gs>
              <a:gs pos="19000">
                <a:schemeClr val="tx1">
                  <a:alpha val="38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CB073D61-952C-48B6-3380-1E487E848018}"/>
              </a:ext>
            </a:extLst>
          </p:cNvPr>
          <p:cNvSpPr>
            <a:spLocks noGrp="1"/>
          </p:cNvSpPr>
          <p:nvPr>
            <p:ph type="title"/>
          </p:nvPr>
        </p:nvSpPr>
        <p:spPr>
          <a:xfrm>
            <a:off x="371094" y="1161288"/>
            <a:ext cx="3438144" cy="1124712"/>
          </a:xfrm>
        </p:spPr>
        <p:txBody>
          <a:bodyPr anchor="b">
            <a:normAutofit/>
          </a:bodyPr>
          <a:lstStyle/>
          <a:p>
            <a:r>
              <a:rPr lang="fr-FR" sz="2800">
                <a:solidFill>
                  <a:schemeClr val="bg1"/>
                </a:solidFill>
              </a:rPr>
              <a:t>Environmental impact</a:t>
            </a:r>
          </a:p>
        </p:txBody>
      </p:sp>
      <p:sp>
        <p:nvSpPr>
          <p:cNvPr id="5131" name="Rectangle 5130">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133" name="Rectangle 5132">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chemeClr val="tx1"/>
          </a:solid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BE0B9104-AE5B-4C78-9D30-78D1169E17F4}"/>
              </a:ext>
            </a:extLst>
          </p:cNvPr>
          <p:cNvSpPr>
            <a:spLocks noGrp="1"/>
          </p:cNvSpPr>
          <p:nvPr>
            <p:ph idx="1"/>
          </p:nvPr>
        </p:nvSpPr>
        <p:spPr>
          <a:xfrm>
            <a:off x="371094" y="2718054"/>
            <a:ext cx="3438906" cy="3207258"/>
          </a:xfrm>
        </p:spPr>
        <p:txBody>
          <a:bodyPr anchor="t">
            <a:normAutofit/>
          </a:bodyPr>
          <a:lstStyle/>
          <a:p>
            <a:endParaRPr lang="fr-FR" sz="1700">
              <a:solidFill>
                <a:schemeClr val="bg1"/>
              </a:solidFill>
            </a:endParaRPr>
          </a:p>
        </p:txBody>
      </p:sp>
    </p:spTree>
    <p:extLst>
      <p:ext uri="{BB962C8B-B14F-4D97-AF65-F5344CB8AC3E}">
        <p14:creationId xmlns:p14="http://schemas.microsoft.com/office/powerpoint/2010/main" val="12156595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F94AA2BD-2E3F-4B1D-8127-5744B8115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CF60199C-6720-2B3C-D9B0-59ABBD69E09D}"/>
              </a:ext>
            </a:extLst>
          </p:cNvPr>
          <p:cNvSpPr>
            <a:spLocks noGrp="1"/>
          </p:cNvSpPr>
          <p:nvPr>
            <p:ph type="title"/>
          </p:nvPr>
        </p:nvSpPr>
        <p:spPr>
          <a:xfrm>
            <a:off x="411480" y="987552"/>
            <a:ext cx="4485861" cy="1088136"/>
          </a:xfrm>
        </p:spPr>
        <p:txBody>
          <a:bodyPr anchor="b">
            <a:normAutofit/>
          </a:bodyPr>
          <a:lstStyle/>
          <a:p>
            <a:r>
              <a:rPr lang="fr-FR" sz="3400"/>
              <a:t>Sustainable food production</a:t>
            </a:r>
          </a:p>
        </p:txBody>
      </p:sp>
      <p:sp>
        <p:nvSpPr>
          <p:cNvPr id="1033" name="Rectangle 1032">
            <a:extLst>
              <a:ext uri="{FF2B5EF4-FFF2-40B4-BE49-F238E27FC236}">
                <a16:creationId xmlns:a16="http://schemas.microsoft.com/office/drawing/2014/main" id="{4BD02261-2DC8-4AA8-9E16-7751AE8924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035" name="Rectangle 1034">
            <a:extLst>
              <a:ext uri="{FF2B5EF4-FFF2-40B4-BE49-F238E27FC236}">
                <a16:creationId xmlns:a16="http://schemas.microsoft.com/office/drawing/2014/main" id="{3D752CF2-2291-40B5-B462-C17B174C10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6000"/>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Espace réservé du contenu 2">
            <a:extLst>
              <a:ext uri="{FF2B5EF4-FFF2-40B4-BE49-F238E27FC236}">
                <a16:creationId xmlns:a16="http://schemas.microsoft.com/office/drawing/2014/main" id="{80E03951-8667-6984-EA3E-3FF349CD20BD}"/>
              </a:ext>
            </a:extLst>
          </p:cNvPr>
          <p:cNvSpPr>
            <a:spLocks noGrp="1"/>
          </p:cNvSpPr>
          <p:nvPr>
            <p:ph idx="1"/>
          </p:nvPr>
        </p:nvSpPr>
        <p:spPr>
          <a:xfrm>
            <a:off x="411479" y="2688336"/>
            <a:ext cx="4498848" cy="3584448"/>
          </a:xfrm>
        </p:spPr>
        <p:txBody>
          <a:bodyPr anchor="t">
            <a:normAutofit/>
          </a:bodyPr>
          <a:lstStyle/>
          <a:p>
            <a:endParaRPr lang="fr-FR" sz="1800"/>
          </a:p>
        </p:txBody>
      </p:sp>
      <p:pic>
        <p:nvPicPr>
          <p:cNvPr id="1026" name="Picture 2" descr="Sustainable Travel Ireland | 5 Ways To Promote Sustainable Food ...">
            <a:extLst>
              <a:ext uri="{FF2B5EF4-FFF2-40B4-BE49-F238E27FC236}">
                <a16:creationId xmlns:a16="http://schemas.microsoft.com/office/drawing/2014/main" id="{7015AA4D-F2C2-BC55-642A-D76794F11D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6861" r="20402"/>
          <a:stretch/>
        </p:blipFill>
        <p:spPr bwMode="auto">
          <a:xfrm>
            <a:off x="5308052" y="10"/>
            <a:ext cx="6883948" cy="6857990"/>
          </a:xfrm>
          <a:custGeom>
            <a:avLst/>
            <a:gdLst/>
            <a:ahLst/>
            <a:cxnLst/>
            <a:rect l="l" t="t" r="r" b="b"/>
            <a:pathLst>
              <a:path w="6883948" h="6858000">
                <a:moveTo>
                  <a:pt x="365648" y="0"/>
                </a:moveTo>
                <a:lnTo>
                  <a:pt x="6883948" y="0"/>
                </a:lnTo>
                <a:lnTo>
                  <a:pt x="6883948" y="6858000"/>
                </a:lnTo>
                <a:lnTo>
                  <a:pt x="365648" y="6858000"/>
                </a:lnTo>
                <a:lnTo>
                  <a:pt x="360213" y="6835050"/>
                </a:lnTo>
                <a:cubicBezTo>
                  <a:pt x="128263" y="5788167"/>
                  <a:pt x="0" y="4637179"/>
                  <a:pt x="0" y="3429001"/>
                </a:cubicBezTo>
                <a:cubicBezTo>
                  <a:pt x="0" y="2220824"/>
                  <a:pt x="128263" y="1069835"/>
                  <a:pt x="360213" y="22952"/>
                </a:cubicBezTo>
                <a:close/>
              </a:path>
            </a:pathLst>
          </a:custGeom>
          <a:noFill/>
          <a:effectLst>
            <a:outerShdw blurRad="50800" dist="38100" dir="10800000" algn="r" rotWithShape="0">
              <a:schemeClr val="bg1">
                <a:lumMod val="85000"/>
                <a:alpha val="30000"/>
              </a:scheme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54923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F94AA2BD-2E3F-4B1D-8127-5744B8115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F1F49879-EBAB-2EEB-CA7F-7957D3300781}"/>
              </a:ext>
            </a:extLst>
          </p:cNvPr>
          <p:cNvSpPr>
            <a:spLocks noGrp="1"/>
          </p:cNvSpPr>
          <p:nvPr>
            <p:ph type="title"/>
          </p:nvPr>
        </p:nvSpPr>
        <p:spPr>
          <a:xfrm>
            <a:off x="411480" y="987552"/>
            <a:ext cx="4485861" cy="1088136"/>
          </a:xfrm>
        </p:spPr>
        <p:txBody>
          <a:bodyPr anchor="b">
            <a:normAutofit/>
          </a:bodyPr>
          <a:lstStyle/>
          <a:p>
            <a:r>
              <a:rPr lang="fr-FR" sz="3400"/>
              <a:t>Safe and free</a:t>
            </a:r>
          </a:p>
        </p:txBody>
      </p:sp>
      <p:sp>
        <p:nvSpPr>
          <p:cNvPr id="2057" name="Rectangle 2056">
            <a:extLst>
              <a:ext uri="{FF2B5EF4-FFF2-40B4-BE49-F238E27FC236}">
                <a16:creationId xmlns:a16="http://schemas.microsoft.com/office/drawing/2014/main" id="{4BD02261-2DC8-4AA8-9E16-7751AE8924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059" name="Rectangle 2058">
            <a:extLst>
              <a:ext uri="{FF2B5EF4-FFF2-40B4-BE49-F238E27FC236}">
                <a16:creationId xmlns:a16="http://schemas.microsoft.com/office/drawing/2014/main" id="{3D752CF2-2291-40B5-B462-C17B174C10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6000"/>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Espace réservé du contenu 2">
            <a:extLst>
              <a:ext uri="{FF2B5EF4-FFF2-40B4-BE49-F238E27FC236}">
                <a16:creationId xmlns:a16="http://schemas.microsoft.com/office/drawing/2014/main" id="{1F51D1F8-F735-D22B-9184-B1C662A61C5A}"/>
              </a:ext>
            </a:extLst>
          </p:cNvPr>
          <p:cNvSpPr>
            <a:spLocks noGrp="1"/>
          </p:cNvSpPr>
          <p:nvPr>
            <p:ph idx="1"/>
          </p:nvPr>
        </p:nvSpPr>
        <p:spPr>
          <a:xfrm>
            <a:off x="411479" y="2688336"/>
            <a:ext cx="4498848" cy="3584448"/>
          </a:xfrm>
        </p:spPr>
        <p:txBody>
          <a:bodyPr anchor="t">
            <a:normAutofit/>
          </a:bodyPr>
          <a:lstStyle/>
          <a:p>
            <a:endParaRPr lang="fr-FR" sz="1800"/>
          </a:p>
        </p:txBody>
      </p:sp>
      <p:pic>
        <p:nvPicPr>
          <p:cNvPr id="2050" name="Picture 2" descr="KEEPING AUSTRALIANS SAFE ON OUR ROADS - The Nationals">
            <a:extLst>
              <a:ext uri="{FF2B5EF4-FFF2-40B4-BE49-F238E27FC236}">
                <a16:creationId xmlns:a16="http://schemas.microsoft.com/office/drawing/2014/main" id="{A1810E7E-46BB-E131-6D61-742C4F25D6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43915" r="5896"/>
          <a:stretch/>
        </p:blipFill>
        <p:spPr bwMode="auto">
          <a:xfrm>
            <a:off x="5308052" y="10"/>
            <a:ext cx="6883948" cy="6857990"/>
          </a:xfrm>
          <a:custGeom>
            <a:avLst/>
            <a:gdLst/>
            <a:ahLst/>
            <a:cxnLst/>
            <a:rect l="l" t="t" r="r" b="b"/>
            <a:pathLst>
              <a:path w="6883948" h="6858000">
                <a:moveTo>
                  <a:pt x="365648" y="0"/>
                </a:moveTo>
                <a:lnTo>
                  <a:pt x="6883948" y="0"/>
                </a:lnTo>
                <a:lnTo>
                  <a:pt x="6883948" y="6858000"/>
                </a:lnTo>
                <a:lnTo>
                  <a:pt x="365648" y="6858000"/>
                </a:lnTo>
                <a:lnTo>
                  <a:pt x="360213" y="6835050"/>
                </a:lnTo>
                <a:cubicBezTo>
                  <a:pt x="128263" y="5788167"/>
                  <a:pt x="0" y="4637179"/>
                  <a:pt x="0" y="3429001"/>
                </a:cubicBezTo>
                <a:cubicBezTo>
                  <a:pt x="0" y="2220824"/>
                  <a:pt x="128263" y="1069835"/>
                  <a:pt x="360213" y="22952"/>
                </a:cubicBezTo>
                <a:close/>
              </a:path>
            </a:pathLst>
          </a:custGeom>
          <a:noFill/>
          <a:effectLst>
            <a:outerShdw blurRad="50800" dist="38100" dir="10800000" algn="r" rotWithShape="0">
              <a:schemeClr val="bg1">
                <a:lumMod val="85000"/>
                <a:alpha val="30000"/>
              </a:scheme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86236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F94AA2BD-2E3F-4B1D-8127-5744B8115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8BCE4315-2FB9-F1F3-BE5E-3655F13A3326}"/>
              </a:ext>
            </a:extLst>
          </p:cNvPr>
          <p:cNvSpPr>
            <a:spLocks noGrp="1"/>
          </p:cNvSpPr>
          <p:nvPr>
            <p:ph type="title"/>
          </p:nvPr>
        </p:nvSpPr>
        <p:spPr>
          <a:xfrm>
            <a:off x="411480" y="987552"/>
            <a:ext cx="4485861" cy="1088136"/>
          </a:xfrm>
        </p:spPr>
        <p:txBody>
          <a:bodyPr anchor="b">
            <a:normAutofit/>
          </a:bodyPr>
          <a:lstStyle/>
          <a:p>
            <a:r>
              <a:rPr lang="fr-FR" sz="3400"/>
              <a:t>Vertical farming</a:t>
            </a:r>
          </a:p>
        </p:txBody>
      </p:sp>
      <p:sp>
        <p:nvSpPr>
          <p:cNvPr id="3081" name="Rectangle 3080">
            <a:extLst>
              <a:ext uri="{FF2B5EF4-FFF2-40B4-BE49-F238E27FC236}">
                <a16:creationId xmlns:a16="http://schemas.microsoft.com/office/drawing/2014/main" id="{4BD02261-2DC8-4AA8-9E16-7751AE8924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083" name="Rectangle 3082">
            <a:extLst>
              <a:ext uri="{FF2B5EF4-FFF2-40B4-BE49-F238E27FC236}">
                <a16:creationId xmlns:a16="http://schemas.microsoft.com/office/drawing/2014/main" id="{3D752CF2-2291-40B5-B462-C17B174C10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6000"/>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Espace réservé du contenu 2">
            <a:extLst>
              <a:ext uri="{FF2B5EF4-FFF2-40B4-BE49-F238E27FC236}">
                <a16:creationId xmlns:a16="http://schemas.microsoft.com/office/drawing/2014/main" id="{1FD2DDE2-9196-530E-3614-5E3ECA35500B}"/>
              </a:ext>
            </a:extLst>
          </p:cNvPr>
          <p:cNvSpPr>
            <a:spLocks noGrp="1"/>
          </p:cNvSpPr>
          <p:nvPr>
            <p:ph idx="1"/>
          </p:nvPr>
        </p:nvSpPr>
        <p:spPr>
          <a:xfrm>
            <a:off x="411479" y="2688336"/>
            <a:ext cx="4498848" cy="3584448"/>
          </a:xfrm>
        </p:spPr>
        <p:txBody>
          <a:bodyPr anchor="t">
            <a:normAutofit/>
          </a:bodyPr>
          <a:lstStyle/>
          <a:p>
            <a:endParaRPr lang="fr-FR" sz="1800"/>
          </a:p>
        </p:txBody>
      </p:sp>
      <p:pic>
        <p:nvPicPr>
          <p:cNvPr id="3074" name="Picture 2" descr="Indoor Vertical Urban Farming - Case Study | Modern Office Systems">
            <a:extLst>
              <a:ext uri="{FF2B5EF4-FFF2-40B4-BE49-F238E27FC236}">
                <a16:creationId xmlns:a16="http://schemas.microsoft.com/office/drawing/2014/main" id="{FCDBA344-2D55-FEA8-C864-7B1FCBC04D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629" r="1" b="1"/>
          <a:stretch/>
        </p:blipFill>
        <p:spPr bwMode="auto">
          <a:xfrm>
            <a:off x="5308052" y="10"/>
            <a:ext cx="6883948" cy="6857990"/>
          </a:xfrm>
          <a:custGeom>
            <a:avLst/>
            <a:gdLst/>
            <a:ahLst/>
            <a:cxnLst/>
            <a:rect l="l" t="t" r="r" b="b"/>
            <a:pathLst>
              <a:path w="6883948" h="6858000">
                <a:moveTo>
                  <a:pt x="365648" y="0"/>
                </a:moveTo>
                <a:lnTo>
                  <a:pt x="6883948" y="0"/>
                </a:lnTo>
                <a:lnTo>
                  <a:pt x="6883948" y="6858000"/>
                </a:lnTo>
                <a:lnTo>
                  <a:pt x="365648" y="6858000"/>
                </a:lnTo>
                <a:lnTo>
                  <a:pt x="360213" y="6835050"/>
                </a:lnTo>
                <a:cubicBezTo>
                  <a:pt x="128263" y="5788167"/>
                  <a:pt x="0" y="4637179"/>
                  <a:pt x="0" y="3429001"/>
                </a:cubicBezTo>
                <a:cubicBezTo>
                  <a:pt x="0" y="2220824"/>
                  <a:pt x="128263" y="1069835"/>
                  <a:pt x="360213" y="22952"/>
                </a:cubicBezTo>
                <a:close/>
              </a:path>
            </a:pathLst>
          </a:custGeom>
          <a:noFill/>
          <a:effectLst>
            <a:outerShdw blurRad="50800" dist="38100" dir="10800000" algn="r" rotWithShape="0">
              <a:schemeClr val="bg1">
                <a:lumMod val="85000"/>
                <a:alpha val="30000"/>
              </a:scheme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54675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75" name="Rectangle 7174">
            <a:extLst>
              <a:ext uri="{FF2B5EF4-FFF2-40B4-BE49-F238E27FC236}">
                <a16:creationId xmlns:a16="http://schemas.microsoft.com/office/drawing/2014/main" id="{9AA72BD9-2C5A-4EDC-931F-5AA08EACA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170" name="Picture 2" descr="Bitcoin Market Cycles and You. The crypto asset market is highly… | by ...">
            <a:extLst>
              <a:ext uri="{FF2B5EF4-FFF2-40B4-BE49-F238E27FC236}">
                <a16:creationId xmlns:a16="http://schemas.microsoft.com/office/drawing/2014/main" id="{423AEDDA-C1CF-C553-910F-7B1CCEC0FE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3301" r="38804" b="5790"/>
          <a:stretch/>
        </p:blipFill>
        <p:spPr bwMode="auto">
          <a:xfrm>
            <a:off x="3522468" y="10"/>
            <a:ext cx="8669532" cy="6857990"/>
          </a:xfrm>
          <a:prstGeom prst="rect">
            <a:avLst/>
          </a:prstGeom>
          <a:noFill/>
          <a:extLst>
            <a:ext uri="{909E8E84-426E-40DD-AFC4-6F175D3DCCD1}">
              <a14:hiddenFill xmlns:a14="http://schemas.microsoft.com/office/drawing/2010/main">
                <a:solidFill>
                  <a:srgbClr val="FFFFFF"/>
                </a:solidFill>
              </a14:hiddenFill>
            </a:ext>
          </a:extLst>
        </p:spPr>
      </p:pic>
      <p:sp>
        <p:nvSpPr>
          <p:cNvPr id="7177" name="Rectangle 7176">
            <a:extLst>
              <a:ext uri="{FF2B5EF4-FFF2-40B4-BE49-F238E27FC236}">
                <a16:creationId xmlns:a16="http://schemas.microsoft.com/office/drawing/2014/main" id="{DD3981AC-7B61-4947-BCF3-F7AA7FA38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tx1"/>
              </a:gs>
              <a:gs pos="35000">
                <a:schemeClr val="tx1">
                  <a:alpha val="78000"/>
                </a:schemeClr>
              </a:gs>
              <a:gs pos="19000">
                <a:schemeClr val="tx1">
                  <a:alpha val="38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2EBE2026-B4A4-8E05-9BC6-9AFEFADA3545}"/>
              </a:ext>
            </a:extLst>
          </p:cNvPr>
          <p:cNvSpPr>
            <a:spLocks noGrp="1"/>
          </p:cNvSpPr>
          <p:nvPr>
            <p:ph type="title"/>
          </p:nvPr>
        </p:nvSpPr>
        <p:spPr>
          <a:xfrm>
            <a:off x="371094" y="1161288"/>
            <a:ext cx="3438144" cy="1124712"/>
          </a:xfrm>
        </p:spPr>
        <p:txBody>
          <a:bodyPr anchor="b">
            <a:normAutofit/>
          </a:bodyPr>
          <a:lstStyle/>
          <a:p>
            <a:r>
              <a:rPr lang="fr-FR" sz="2800">
                <a:solidFill>
                  <a:schemeClr val="bg1"/>
                </a:solidFill>
              </a:rPr>
              <a:t>Market Position</a:t>
            </a:r>
          </a:p>
        </p:txBody>
      </p:sp>
      <p:sp>
        <p:nvSpPr>
          <p:cNvPr id="7179" name="Rectangle 7178">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181" name="Rectangle 7180">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chemeClr val="tx1"/>
          </a:solid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6C7098CB-E337-E38E-411E-4B903EAAD470}"/>
              </a:ext>
            </a:extLst>
          </p:cNvPr>
          <p:cNvSpPr>
            <a:spLocks noGrp="1"/>
          </p:cNvSpPr>
          <p:nvPr>
            <p:ph idx="1"/>
          </p:nvPr>
        </p:nvSpPr>
        <p:spPr>
          <a:xfrm>
            <a:off x="371094" y="2718054"/>
            <a:ext cx="3438906" cy="3207258"/>
          </a:xfrm>
        </p:spPr>
        <p:txBody>
          <a:bodyPr anchor="t">
            <a:normAutofit/>
          </a:bodyPr>
          <a:lstStyle/>
          <a:p>
            <a:endParaRPr lang="fr-FR" sz="1700">
              <a:solidFill>
                <a:schemeClr val="bg1"/>
              </a:solidFill>
            </a:endParaRPr>
          </a:p>
        </p:txBody>
      </p:sp>
    </p:spTree>
    <p:extLst>
      <p:ext uri="{BB962C8B-B14F-4D97-AF65-F5344CB8AC3E}">
        <p14:creationId xmlns:p14="http://schemas.microsoft.com/office/powerpoint/2010/main" val="35909151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3" name="Rectangle 4102">
            <a:extLst>
              <a:ext uri="{FF2B5EF4-FFF2-40B4-BE49-F238E27FC236}">
                <a16:creationId xmlns:a16="http://schemas.microsoft.com/office/drawing/2014/main" id="{F94AA2BD-2E3F-4B1D-8127-5744B8115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0EF7BC8B-462F-AE6D-D90B-EFF578B9C99D}"/>
              </a:ext>
            </a:extLst>
          </p:cNvPr>
          <p:cNvSpPr>
            <a:spLocks noGrp="1"/>
          </p:cNvSpPr>
          <p:nvPr>
            <p:ph type="title"/>
          </p:nvPr>
        </p:nvSpPr>
        <p:spPr>
          <a:xfrm>
            <a:off x="411480" y="987552"/>
            <a:ext cx="4485861" cy="1088136"/>
          </a:xfrm>
        </p:spPr>
        <p:txBody>
          <a:bodyPr anchor="b">
            <a:normAutofit/>
          </a:bodyPr>
          <a:lstStyle/>
          <a:p>
            <a:r>
              <a:rPr lang="fr-FR" sz="3400"/>
              <a:t>Price breakdown </a:t>
            </a:r>
          </a:p>
        </p:txBody>
      </p:sp>
      <p:sp>
        <p:nvSpPr>
          <p:cNvPr id="4105" name="Rectangle 4104">
            <a:extLst>
              <a:ext uri="{FF2B5EF4-FFF2-40B4-BE49-F238E27FC236}">
                <a16:creationId xmlns:a16="http://schemas.microsoft.com/office/drawing/2014/main" id="{4BD02261-2DC8-4AA8-9E16-7751AE8924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107" name="Rectangle 4106">
            <a:extLst>
              <a:ext uri="{FF2B5EF4-FFF2-40B4-BE49-F238E27FC236}">
                <a16:creationId xmlns:a16="http://schemas.microsoft.com/office/drawing/2014/main" id="{3D752CF2-2291-40B5-B462-C17B174C10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6000"/>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Espace réservé du contenu 2">
            <a:extLst>
              <a:ext uri="{FF2B5EF4-FFF2-40B4-BE49-F238E27FC236}">
                <a16:creationId xmlns:a16="http://schemas.microsoft.com/office/drawing/2014/main" id="{A45B9CCF-D70E-90F9-54D8-9D652D7AE7AE}"/>
              </a:ext>
            </a:extLst>
          </p:cNvPr>
          <p:cNvSpPr>
            <a:spLocks noGrp="1"/>
          </p:cNvSpPr>
          <p:nvPr>
            <p:ph idx="1"/>
          </p:nvPr>
        </p:nvSpPr>
        <p:spPr>
          <a:xfrm>
            <a:off x="411479" y="2688336"/>
            <a:ext cx="4498848" cy="3584448"/>
          </a:xfrm>
        </p:spPr>
        <p:txBody>
          <a:bodyPr anchor="t">
            <a:normAutofit/>
          </a:bodyPr>
          <a:lstStyle/>
          <a:p>
            <a:r>
              <a:rPr lang="fr-FR" sz="1800" dirty="0" err="1"/>
              <a:t>Manufacturing</a:t>
            </a:r>
            <a:r>
              <a:rPr lang="fr-FR" sz="1800" dirty="0"/>
              <a:t> </a:t>
            </a:r>
            <a:r>
              <a:rPr lang="fr-FR" sz="1800" dirty="0" err="1"/>
              <a:t>cost</a:t>
            </a:r>
            <a:r>
              <a:rPr lang="fr-FR" sz="1800" dirty="0"/>
              <a:t>, </a:t>
            </a:r>
            <a:r>
              <a:rPr lang="fr-FR" sz="1800" dirty="0" err="1"/>
              <a:t>retail</a:t>
            </a:r>
            <a:r>
              <a:rPr lang="fr-FR" sz="1800" dirty="0"/>
              <a:t> </a:t>
            </a:r>
            <a:r>
              <a:rPr lang="fr-FR" sz="1800" dirty="0" err="1"/>
              <a:t>price</a:t>
            </a:r>
            <a:r>
              <a:rPr lang="fr-FR" sz="1800" dirty="0"/>
              <a:t> =&gt; good for </a:t>
            </a:r>
            <a:r>
              <a:rPr lang="fr-FR" sz="1800" dirty="0" err="1"/>
              <a:t>investers</a:t>
            </a:r>
            <a:endParaRPr lang="fr-FR" sz="1800" dirty="0"/>
          </a:p>
          <a:p>
            <a:r>
              <a:rPr lang="fr-FR" sz="1800" dirty="0"/>
              <a:t>Good for </a:t>
            </a:r>
            <a:r>
              <a:rPr lang="fr-FR" sz="1800" dirty="0" err="1"/>
              <a:t>customers</a:t>
            </a:r>
            <a:r>
              <a:rPr lang="fr-FR" sz="1800" dirty="0"/>
              <a:t>=&gt;pays </a:t>
            </a:r>
            <a:r>
              <a:rPr lang="fr-FR" sz="1800" dirty="0" err="1"/>
              <a:t>itself</a:t>
            </a:r>
            <a:r>
              <a:rPr lang="fr-FR" sz="1800" dirty="0"/>
              <a:t> out</a:t>
            </a:r>
          </a:p>
          <a:p>
            <a:r>
              <a:rPr lang="fr-FR" sz="1800" dirty="0"/>
              <a:t>Attractive </a:t>
            </a:r>
            <a:r>
              <a:rPr lang="fr-FR" sz="1800" dirty="0" err="1"/>
              <a:t>product</a:t>
            </a:r>
            <a:endParaRPr lang="fr-FR" sz="1800" dirty="0"/>
          </a:p>
        </p:txBody>
      </p:sp>
      <p:pic>
        <p:nvPicPr>
          <p:cNvPr id="4098" name="Picture 2" descr="3 Cost breakdown diagram (Source : Authors' personal data) | Download ...">
            <a:extLst>
              <a:ext uri="{FF2B5EF4-FFF2-40B4-BE49-F238E27FC236}">
                <a16:creationId xmlns:a16="http://schemas.microsoft.com/office/drawing/2014/main" id="{5A0884AC-D375-781E-E400-B85DC2D368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3661" r="15835" b="-4"/>
          <a:stretch/>
        </p:blipFill>
        <p:spPr bwMode="auto">
          <a:xfrm>
            <a:off x="5308052" y="10"/>
            <a:ext cx="6883948" cy="6857990"/>
          </a:xfrm>
          <a:custGeom>
            <a:avLst/>
            <a:gdLst/>
            <a:ahLst/>
            <a:cxnLst/>
            <a:rect l="l" t="t" r="r" b="b"/>
            <a:pathLst>
              <a:path w="6883948" h="6858000">
                <a:moveTo>
                  <a:pt x="365648" y="0"/>
                </a:moveTo>
                <a:lnTo>
                  <a:pt x="6883948" y="0"/>
                </a:lnTo>
                <a:lnTo>
                  <a:pt x="6883948" y="6858000"/>
                </a:lnTo>
                <a:lnTo>
                  <a:pt x="365648" y="6858000"/>
                </a:lnTo>
                <a:lnTo>
                  <a:pt x="360213" y="6835050"/>
                </a:lnTo>
                <a:cubicBezTo>
                  <a:pt x="128263" y="5788167"/>
                  <a:pt x="0" y="4637179"/>
                  <a:pt x="0" y="3429001"/>
                </a:cubicBezTo>
                <a:cubicBezTo>
                  <a:pt x="0" y="2220824"/>
                  <a:pt x="128263" y="1069835"/>
                  <a:pt x="360213" y="22952"/>
                </a:cubicBezTo>
                <a:close/>
              </a:path>
            </a:pathLst>
          </a:custGeom>
          <a:noFill/>
          <a:effectLst>
            <a:outerShdw blurRad="50800" dist="38100" dir="10800000" algn="r" rotWithShape="0">
              <a:schemeClr val="bg1">
                <a:lumMod val="85000"/>
                <a:alpha val="30000"/>
              </a:scheme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0445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7" name="Rectangle 5126">
            <a:extLst>
              <a:ext uri="{FF2B5EF4-FFF2-40B4-BE49-F238E27FC236}">
                <a16:creationId xmlns:a16="http://schemas.microsoft.com/office/drawing/2014/main" id="{F94AA2BD-2E3F-4B1D-8127-5744B8115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2F65A605-B88D-3602-2949-44A73914303C}"/>
              </a:ext>
            </a:extLst>
          </p:cNvPr>
          <p:cNvSpPr>
            <a:spLocks noGrp="1"/>
          </p:cNvSpPr>
          <p:nvPr>
            <p:ph type="title"/>
          </p:nvPr>
        </p:nvSpPr>
        <p:spPr>
          <a:xfrm>
            <a:off x="411480" y="987552"/>
            <a:ext cx="4485861" cy="1088136"/>
          </a:xfrm>
        </p:spPr>
        <p:txBody>
          <a:bodyPr anchor="b">
            <a:normAutofit/>
          </a:bodyPr>
          <a:lstStyle/>
          <a:p>
            <a:r>
              <a:rPr lang="fr-FR" sz="3400" dirty="0" err="1"/>
              <a:t>Market</a:t>
            </a:r>
            <a:r>
              <a:rPr lang="fr-FR" sz="3400" dirty="0"/>
              <a:t> position </a:t>
            </a:r>
          </a:p>
        </p:txBody>
      </p:sp>
      <p:sp>
        <p:nvSpPr>
          <p:cNvPr id="5129" name="Rectangle 5128">
            <a:extLst>
              <a:ext uri="{FF2B5EF4-FFF2-40B4-BE49-F238E27FC236}">
                <a16:creationId xmlns:a16="http://schemas.microsoft.com/office/drawing/2014/main" id="{4BD02261-2DC8-4AA8-9E16-7751AE8924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131" name="Rectangle 5130">
            <a:extLst>
              <a:ext uri="{FF2B5EF4-FFF2-40B4-BE49-F238E27FC236}">
                <a16:creationId xmlns:a16="http://schemas.microsoft.com/office/drawing/2014/main" id="{3D752CF2-2291-40B5-B462-C17B174C10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6000"/>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Espace réservé du contenu 2">
            <a:extLst>
              <a:ext uri="{FF2B5EF4-FFF2-40B4-BE49-F238E27FC236}">
                <a16:creationId xmlns:a16="http://schemas.microsoft.com/office/drawing/2014/main" id="{7BFAD598-6B52-E55C-C49B-0A3151E68D35}"/>
              </a:ext>
            </a:extLst>
          </p:cNvPr>
          <p:cNvSpPr>
            <a:spLocks noGrp="1"/>
          </p:cNvSpPr>
          <p:nvPr>
            <p:ph idx="1"/>
          </p:nvPr>
        </p:nvSpPr>
        <p:spPr>
          <a:xfrm>
            <a:off x="411479" y="2688336"/>
            <a:ext cx="4498848" cy="3584448"/>
          </a:xfrm>
        </p:spPr>
        <p:txBody>
          <a:bodyPr anchor="t">
            <a:normAutofit/>
          </a:bodyPr>
          <a:lstStyle/>
          <a:p>
            <a:r>
              <a:rPr lang="fr-FR" sz="1800" dirty="0"/>
              <a:t>$3000 lot of </a:t>
            </a:r>
            <a:r>
              <a:rPr lang="fr-FR" sz="1800" dirty="0" err="1"/>
              <a:t>features</a:t>
            </a:r>
            <a:endParaRPr lang="fr-FR" sz="1800" dirty="0"/>
          </a:p>
          <a:p>
            <a:r>
              <a:rPr lang="fr-FR" sz="1800" dirty="0"/>
              <a:t>Pays </a:t>
            </a:r>
            <a:r>
              <a:rPr lang="fr-FR" sz="1800" dirty="0" err="1"/>
              <a:t>itself</a:t>
            </a:r>
            <a:r>
              <a:rPr lang="fr-FR" sz="1800" dirty="0"/>
              <a:t> out</a:t>
            </a:r>
          </a:p>
          <a:p>
            <a:r>
              <a:rPr lang="fr-FR" sz="1800" dirty="0" err="1"/>
              <a:t>Better</a:t>
            </a:r>
            <a:r>
              <a:rPr lang="fr-FR" sz="1800" dirty="0"/>
              <a:t> </a:t>
            </a:r>
            <a:r>
              <a:rPr lang="fr-FR" sz="1800" dirty="0" err="1"/>
              <a:t>food</a:t>
            </a:r>
            <a:r>
              <a:rPr lang="fr-FR" sz="1800" dirty="0"/>
              <a:t>, no pesticide, </a:t>
            </a:r>
            <a:r>
              <a:rPr lang="fr-FR" sz="1800" dirty="0" err="1"/>
              <a:t>less</a:t>
            </a:r>
            <a:r>
              <a:rPr lang="fr-FR" sz="1800" dirty="0"/>
              <a:t> environnement impact</a:t>
            </a:r>
          </a:p>
          <a:p>
            <a:r>
              <a:rPr lang="fr-FR" sz="1800" dirty="0"/>
              <a:t>Save time, </a:t>
            </a:r>
            <a:r>
              <a:rPr lang="fr-FR" sz="1800" dirty="0" err="1"/>
              <a:t>health</a:t>
            </a:r>
            <a:r>
              <a:rPr lang="fr-FR" sz="1800" dirty="0"/>
              <a:t> </a:t>
            </a:r>
            <a:r>
              <a:rPr lang="fr-FR" sz="1800" dirty="0" err="1"/>
              <a:t>wallet</a:t>
            </a:r>
            <a:r>
              <a:rPr lang="fr-FR" sz="1800" dirty="0"/>
              <a:t> </a:t>
            </a:r>
            <a:r>
              <a:rPr lang="fr-FR" sz="1800" dirty="0" err="1"/>
              <a:t>environment</a:t>
            </a:r>
            <a:endParaRPr lang="fr-FR" sz="1800" dirty="0"/>
          </a:p>
        </p:txBody>
      </p:sp>
      <p:pic>
        <p:nvPicPr>
          <p:cNvPr id="5122" name="Picture 2" descr="What is Market Positioning? Strategy, Examples &amp; How to Build one ...">
            <a:extLst>
              <a:ext uri="{FF2B5EF4-FFF2-40B4-BE49-F238E27FC236}">
                <a16:creationId xmlns:a16="http://schemas.microsoft.com/office/drawing/2014/main" id="{2FB461E2-EC20-A62D-E510-5FF95C52E2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0134" r="20642" b="-1"/>
          <a:stretch/>
        </p:blipFill>
        <p:spPr bwMode="auto">
          <a:xfrm>
            <a:off x="5308052" y="10"/>
            <a:ext cx="6883948" cy="6857990"/>
          </a:xfrm>
          <a:custGeom>
            <a:avLst/>
            <a:gdLst/>
            <a:ahLst/>
            <a:cxnLst/>
            <a:rect l="l" t="t" r="r" b="b"/>
            <a:pathLst>
              <a:path w="6883948" h="6858000">
                <a:moveTo>
                  <a:pt x="365648" y="0"/>
                </a:moveTo>
                <a:lnTo>
                  <a:pt x="6883948" y="0"/>
                </a:lnTo>
                <a:lnTo>
                  <a:pt x="6883948" y="6858000"/>
                </a:lnTo>
                <a:lnTo>
                  <a:pt x="365648" y="6858000"/>
                </a:lnTo>
                <a:lnTo>
                  <a:pt x="360213" y="6835050"/>
                </a:lnTo>
                <a:cubicBezTo>
                  <a:pt x="128263" y="5788167"/>
                  <a:pt x="0" y="4637179"/>
                  <a:pt x="0" y="3429001"/>
                </a:cubicBezTo>
                <a:cubicBezTo>
                  <a:pt x="0" y="2220824"/>
                  <a:pt x="128263" y="1069835"/>
                  <a:pt x="360213" y="22952"/>
                </a:cubicBezTo>
                <a:close/>
              </a:path>
            </a:pathLst>
          </a:custGeom>
          <a:noFill/>
          <a:effectLst>
            <a:outerShdw blurRad="50800" dist="38100" dir="10800000" algn="r" rotWithShape="0">
              <a:schemeClr val="bg1">
                <a:lumMod val="85000"/>
                <a:alpha val="30000"/>
              </a:scheme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82814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9AA72BD9-2C5A-4EDC-931F-5AA08EACA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Espace réservé du contenu 3" descr="Une image contenant plante d’intérieur, plante&#10;&#10;Description générée automatiquement">
            <a:extLst>
              <a:ext uri="{FF2B5EF4-FFF2-40B4-BE49-F238E27FC236}">
                <a16:creationId xmlns:a16="http://schemas.microsoft.com/office/drawing/2014/main" id="{82C2926E-71A5-5B13-E8FC-28B6B24052F4}"/>
              </a:ext>
            </a:extLst>
          </p:cNvPr>
          <p:cNvPicPr>
            <a:picLocks noChangeAspect="1"/>
          </p:cNvPicPr>
          <p:nvPr/>
        </p:nvPicPr>
        <p:blipFill>
          <a:blip r:embed="rId2">
            <a:extLst>
              <a:ext uri="{28A0092B-C50C-407E-A947-70E740481C1C}">
                <a14:useLocalDpi xmlns:a14="http://schemas.microsoft.com/office/drawing/2010/main" val="0"/>
              </a:ext>
            </a:extLst>
          </a:blip>
          <a:srcRect t="5740" r="9090" b="12307"/>
          <a:stretch/>
        </p:blipFill>
        <p:spPr>
          <a:xfrm>
            <a:off x="3522468" y="10"/>
            <a:ext cx="8669532" cy="6857990"/>
          </a:xfrm>
          <a:prstGeom prst="rect">
            <a:avLst/>
          </a:prstGeom>
        </p:spPr>
      </p:pic>
      <p:sp>
        <p:nvSpPr>
          <p:cNvPr id="24" name="Rectangle 23">
            <a:extLst>
              <a:ext uri="{FF2B5EF4-FFF2-40B4-BE49-F238E27FC236}">
                <a16:creationId xmlns:a16="http://schemas.microsoft.com/office/drawing/2014/main" id="{DD3981AC-7B61-4947-BCF3-F7AA7FA38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tx1"/>
              </a:gs>
              <a:gs pos="35000">
                <a:schemeClr val="tx1">
                  <a:alpha val="78000"/>
                </a:schemeClr>
              </a:gs>
              <a:gs pos="19000">
                <a:schemeClr val="tx1">
                  <a:alpha val="38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B715102C-3819-2A9C-472C-7CAEE910135B}"/>
              </a:ext>
            </a:extLst>
          </p:cNvPr>
          <p:cNvSpPr>
            <a:spLocks noGrp="1"/>
          </p:cNvSpPr>
          <p:nvPr>
            <p:ph type="title"/>
          </p:nvPr>
        </p:nvSpPr>
        <p:spPr>
          <a:xfrm>
            <a:off x="371094" y="1161288"/>
            <a:ext cx="3438144" cy="1124712"/>
          </a:xfrm>
        </p:spPr>
        <p:txBody>
          <a:bodyPr vert="horz" lIns="91440" tIns="45720" rIns="91440" bIns="45720" rtlCol="0" anchor="b">
            <a:normAutofit/>
          </a:bodyPr>
          <a:lstStyle/>
          <a:p>
            <a:r>
              <a:rPr lang="en-US" sz="2800">
                <a:solidFill>
                  <a:schemeClr val="bg1"/>
                </a:solidFill>
              </a:rPr>
              <a:t>Closing</a:t>
            </a:r>
          </a:p>
        </p:txBody>
      </p:sp>
      <p:sp>
        <p:nvSpPr>
          <p:cNvPr id="26" name="Rectangle 25">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8" name="Rectangle 27">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chemeClr val="tx1"/>
          </a:solid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Content Placeholder 18">
            <a:extLst>
              <a:ext uri="{FF2B5EF4-FFF2-40B4-BE49-F238E27FC236}">
                <a16:creationId xmlns:a16="http://schemas.microsoft.com/office/drawing/2014/main" id="{46B02658-F9BB-EE16-F988-2E1F2FDF3D96}"/>
              </a:ext>
            </a:extLst>
          </p:cNvPr>
          <p:cNvSpPr>
            <a:spLocks noGrp="1"/>
          </p:cNvSpPr>
          <p:nvPr>
            <p:ph idx="1"/>
          </p:nvPr>
        </p:nvSpPr>
        <p:spPr>
          <a:xfrm>
            <a:off x="371094" y="2718054"/>
            <a:ext cx="3438906" cy="3207258"/>
          </a:xfrm>
        </p:spPr>
        <p:txBody>
          <a:bodyPr anchor="t">
            <a:normAutofit/>
          </a:bodyPr>
          <a:lstStyle/>
          <a:p>
            <a:endParaRPr lang="en-US" sz="1700">
              <a:solidFill>
                <a:schemeClr val="bg1"/>
              </a:solidFill>
            </a:endParaRPr>
          </a:p>
        </p:txBody>
      </p:sp>
    </p:spTree>
    <p:extLst>
      <p:ext uri="{BB962C8B-B14F-4D97-AF65-F5344CB8AC3E}">
        <p14:creationId xmlns:p14="http://schemas.microsoft.com/office/powerpoint/2010/main" val="40477828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744AEF4-582A-2A61-FF0B-10F2B562A62C}"/>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913E7664-A0E1-7F5E-8581-2F6323F25F93}"/>
              </a:ext>
            </a:extLst>
          </p:cNvPr>
          <p:cNvSpPr>
            <a:spLocks noGrp="1"/>
          </p:cNvSpPr>
          <p:nvPr>
            <p:ph idx="1"/>
          </p:nvPr>
        </p:nvSpPr>
        <p:spPr/>
        <p:txBody>
          <a:bodyPr/>
          <a:lstStyle/>
          <a:p>
            <a:endParaRPr lang="fr-FR"/>
          </a:p>
        </p:txBody>
      </p:sp>
      <p:pic>
        <p:nvPicPr>
          <p:cNvPr id="8194" name="Picture 2">
            <a:extLst>
              <a:ext uri="{FF2B5EF4-FFF2-40B4-BE49-F238E27FC236}">
                <a16:creationId xmlns:a16="http://schemas.microsoft.com/office/drawing/2014/main" id="{E80C8AE5-A39E-096B-A8CE-9C73DF66A6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83519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51" name="Rectangle 6150">
            <a:extLst>
              <a:ext uri="{FF2B5EF4-FFF2-40B4-BE49-F238E27FC236}">
                <a16:creationId xmlns:a16="http://schemas.microsoft.com/office/drawing/2014/main" id="{21A75659-5A6F-4F77-9679-678A00B9D8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46" name="Picture 2" descr="Rideau théâtre | Le triple effort">
            <a:extLst>
              <a:ext uri="{FF2B5EF4-FFF2-40B4-BE49-F238E27FC236}">
                <a16:creationId xmlns:a16="http://schemas.microsoft.com/office/drawing/2014/main" id="{9B92ADE9-97FD-8A2B-CBF4-6D901DFE12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5628" r="-1" b="-1"/>
          <a:stretch/>
        </p:blipFill>
        <p:spPr bwMode="auto">
          <a:xfrm>
            <a:off x="0" y="-45997"/>
            <a:ext cx="8668492" cy="6857990"/>
          </a:xfrm>
          <a:prstGeom prst="rect">
            <a:avLst/>
          </a:prstGeom>
          <a:noFill/>
          <a:extLst>
            <a:ext uri="{909E8E84-426E-40DD-AFC4-6F175D3DCCD1}">
              <a14:hiddenFill xmlns:a14="http://schemas.microsoft.com/office/drawing/2010/main">
                <a:solidFill>
                  <a:srgbClr val="FFFFFF"/>
                </a:solidFill>
              </a14:hiddenFill>
            </a:ext>
          </a:extLst>
        </p:spPr>
      </p:pic>
      <p:sp>
        <p:nvSpPr>
          <p:cNvPr id="6153" name="Rectangle 6152">
            <a:extLst>
              <a:ext uri="{FF2B5EF4-FFF2-40B4-BE49-F238E27FC236}">
                <a16:creationId xmlns:a16="http://schemas.microsoft.com/office/drawing/2014/main" id="{E30A3A45-140E-431E-AED0-07EF836310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435399" y="0"/>
            <a:ext cx="9756601" cy="6858000"/>
          </a:xfrm>
          <a:prstGeom prst="rect">
            <a:avLst/>
          </a:prstGeom>
          <a:gradFill>
            <a:gsLst>
              <a:gs pos="53000">
                <a:schemeClr val="tx1"/>
              </a:gs>
              <a:gs pos="35000">
                <a:schemeClr val="tx1">
                  <a:alpha val="76000"/>
                </a:schemeClr>
              </a:gs>
              <a:gs pos="19000">
                <a:schemeClr val="tx1">
                  <a:alpha val="40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BE77B3AC-2E2A-6BB9-C938-C6A38355F0E7}"/>
              </a:ext>
            </a:extLst>
          </p:cNvPr>
          <p:cNvSpPr>
            <a:spLocks noGrp="1"/>
          </p:cNvSpPr>
          <p:nvPr>
            <p:ph type="title"/>
          </p:nvPr>
        </p:nvSpPr>
        <p:spPr>
          <a:xfrm>
            <a:off x="8395868" y="1161288"/>
            <a:ext cx="3438144" cy="1124712"/>
          </a:xfrm>
        </p:spPr>
        <p:txBody>
          <a:bodyPr anchor="b">
            <a:normAutofit/>
          </a:bodyPr>
          <a:lstStyle/>
          <a:p>
            <a:r>
              <a:rPr lang="fr-FR" sz="2800">
                <a:solidFill>
                  <a:schemeClr val="bg1"/>
                </a:solidFill>
              </a:rPr>
              <a:t>The End</a:t>
            </a:r>
          </a:p>
        </p:txBody>
      </p:sp>
      <p:sp>
        <p:nvSpPr>
          <p:cNvPr id="6155" name="Rectangle 6154">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687333"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157" name="Rectangle 6156">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53018" y="2443480"/>
            <a:ext cx="3218688" cy="9144"/>
          </a:xfrm>
          <a:prstGeom prst="rect">
            <a:avLst/>
          </a:prstGeom>
          <a:solidFill>
            <a:schemeClr val="tx1"/>
          </a:solid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A85C1495-2609-2833-8DCA-F1922AB17BBE}"/>
              </a:ext>
            </a:extLst>
          </p:cNvPr>
          <p:cNvSpPr>
            <a:spLocks noGrp="1"/>
          </p:cNvSpPr>
          <p:nvPr>
            <p:ph idx="1"/>
          </p:nvPr>
        </p:nvSpPr>
        <p:spPr>
          <a:xfrm>
            <a:off x="8395868" y="2718054"/>
            <a:ext cx="3438906" cy="3207258"/>
          </a:xfrm>
        </p:spPr>
        <p:txBody>
          <a:bodyPr anchor="t">
            <a:normAutofit/>
          </a:bodyPr>
          <a:lstStyle/>
          <a:p>
            <a:endParaRPr lang="fr-FR" sz="1700">
              <a:solidFill>
                <a:schemeClr val="bg1"/>
              </a:solidFill>
            </a:endParaRPr>
          </a:p>
        </p:txBody>
      </p:sp>
    </p:spTree>
    <p:extLst>
      <p:ext uri="{BB962C8B-B14F-4D97-AF65-F5344CB8AC3E}">
        <p14:creationId xmlns:p14="http://schemas.microsoft.com/office/powerpoint/2010/main" val="1159111151"/>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149</TotalTime>
  <Words>727</Words>
  <Application>Microsoft Office PowerPoint</Application>
  <PresentationFormat>Grand écran</PresentationFormat>
  <Paragraphs>70</Paragraphs>
  <Slides>29</Slides>
  <Notes>16</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29</vt:i4>
      </vt:variant>
    </vt:vector>
  </HeadingPairs>
  <TitlesOfParts>
    <vt:vector size="36" baseType="lpstr">
      <vt:lpstr>Aptos</vt:lpstr>
      <vt:lpstr>Aptos Display</vt:lpstr>
      <vt:lpstr>Arial</vt:lpstr>
      <vt:lpstr>Calibri</vt:lpstr>
      <vt:lpstr>gg sans</vt:lpstr>
      <vt:lpstr>inherit</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BioSync Smart Garden</vt:lpstr>
      <vt:lpstr>Table of contents :</vt:lpstr>
      <vt:lpstr>Technology Overview</vt:lpstr>
      <vt:lpstr>AI technology and system</vt:lpstr>
      <vt:lpstr>BioSync App</vt:lpstr>
      <vt:lpstr>Présentation PowerPoint</vt:lpstr>
      <vt:lpstr>AI Automation</vt:lpstr>
      <vt:lpstr>Compact Design</vt:lpstr>
      <vt:lpstr>Smart Connectivity</vt:lpstr>
      <vt:lpstr>User-Friendly Interface</vt:lpstr>
      <vt:lpstr>Global View of the product</vt:lpstr>
      <vt:lpstr>Example of a Sequence</vt:lpstr>
      <vt:lpstr>Environmental impact</vt:lpstr>
      <vt:lpstr>Sustainable food production</vt:lpstr>
      <vt:lpstr>Safe and free</vt:lpstr>
      <vt:lpstr>Vertical farming</vt:lpstr>
      <vt:lpstr>Market Position</vt:lpstr>
      <vt:lpstr>Price breakdown </vt:lpstr>
      <vt:lpstr>Market position </vt:lpstr>
      <vt:lpstr>Closing</vt:lpstr>
      <vt:lpstr>Présentation PowerPoint</vt:lpstr>
      <vt:lpstr>The 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GARONNE Quentin</dc:creator>
  <cp:lastModifiedBy>GARONNE Quentin</cp:lastModifiedBy>
  <cp:revision>6</cp:revision>
  <dcterms:created xsi:type="dcterms:W3CDTF">2024-12-04T14:22:49Z</dcterms:created>
  <dcterms:modified xsi:type="dcterms:W3CDTF">2024-12-05T09:19:50Z</dcterms:modified>
</cp:coreProperties>
</file>