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68" r:id="rId18"/>
    <p:sldId id="269" r:id="rId19"/>
    <p:sldId id="270" r:id="rId20"/>
    <p:sldId id="272" r:id="rId21"/>
    <p:sldId id="273" r:id="rId22"/>
    <p:sldId id="274" r:id="rId23"/>
    <p:sldId id="276" r:id="rId24"/>
    <p:sldId id="275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6CA67-7B56-8BC0-E6C8-8A89472DAF13}" vWet="4" dt="2024-06-20T06:38:09.021"/>
    <p1510:client id="{5D746016-D77B-4A49-9714-B16E82FDC854}" v="306" dt="2024-06-19T14:14:28.061"/>
    <p1510:client id="{8F0CC8B8-DFBB-CE2C-C6E9-81263DB30B0B}" v="6" dt="2024-06-19T13:29:02.292"/>
    <p1510:client id="{E28D5438-4299-CFE6-56CF-F9D27E5F9C46}" v="157" dt="2024-06-19T13:44:39.509"/>
    <p1510:client id="{E8506F4F-20AB-ECEA-8157-09D37E7A8108}" v="32" dt="2024-06-19T13:29:54.515"/>
    <p1510:client id="{F7CA6376-F742-779F-E42A-069A59416500}" v="16" dt="2024-06-19T21:54:44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4915" autoAdjust="0"/>
  </p:normalViewPr>
  <p:slideViewPr>
    <p:cSldViewPr snapToGrid="0">
      <p:cViewPr varScale="1">
        <p:scale>
          <a:sx n="39" d="100"/>
          <a:sy n="39" d="100"/>
        </p:scale>
        <p:origin x="21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68A70-CD58-4BB7-8571-C3E29E803C8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1EB1E2-730C-4424-AAC0-5FBC12F1DC82}">
      <dgm:prSet/>
      <dgm:spPr/>
      <dgm:t>
        <a:bodyPr/>
        <a:lstStyle/>
        <a:p>
          <a:r>
            <a:rPr lang="fr-FR"/>
            <a:t>Front end</a:t>
          </a:r>
          <a:endParaRPr lang="en-US"/>
        </a:p>
      </dgm:t>
    </dgm:pt>
    <dgm:pt modelId="{04E97D58-775A-4644-A504-0822C688BBDF}" type="parTrans" cxnId="{B583C6E5-2191-4FA0-BDDB-E0793F3B5D34}">
      <dgm:prSet/>
      <dgm:spPr/>
      <dgm:t>
        <a:bodyPr/>
        <a:lstStyle/>
        <a:p>
          <a:endParaRPr lang="en-US"/>
        </a:p>
      </dgm:t>
    </dgm:pt>
    <dgm:pt modelId="{97777213-8876-4283-B69B-834D1EE5D14C}" type="sibTrans" cxnId="{B583C6E5-2191-4FA0-BDDB-E0793F3B5D34}">
      <dgm:prSet/>
      <dgm:spPr/>
      <dgm:t>
        <a:bodyPr/>
        <a:lstStyle/>
        <a:p>
          <a:endParaRPr lang="en-US"/>
        </a:p>
      </dgm:t>
    </dgm:pt>
    <dgm:pt modelId="{795355FF-B9BD-4D79-A7A0-BCBF0DC07314}">
      <dgm:prSet/>
      <dgm:spPr/>
      <dgm:t>
        <a:bodyPr/>
        <a:lstStyle/>
        <a:p>
          <a:r>
            <a:rPr lang="fr-FR"/>
            <a:t>Back end</a:t>
          </a:r>
          <a:endParaRPr lang="en-US"/>
        </a:p>
      </dgm:t>
    </dgm:pt>
    <dgm:pt modelId="{472129AC-894E-458C-BF3F-00DE5C9B88E3}" type="parTrans" cxnId="{A1B9BE39-CEE9-4ECC-A6A0-5AD144089622}">
      <dgm:prSet/>
      <dgm:spPr/>
      <dgm:t>
        <a:bodyPr/>
        <a:lstStyle/>
        <a:p>
          <a:endParaRPr lang="en-US"/>
        </a:p>
      </dgm:t>
    </dgm:pt>
    <dgm:pt modelId="{73443C04-3E11-4862-948E-D0A863B80D78}" type="sibTrans" cxnId="{A1B9BE39-CEE9-4ECC-A6A0-5AD144089622}">
      <dgm:prSet/>
      <dgm:spPr/>
      <dgm:t>
        <a:bodyPr/>
        <a:lstStyle/>
        <a:p>
          <a:endParaRPr lang="en-US"/>
        </a:p>
      </dgm:t>
    </dgm:pt>
    <dgm:pt modelId="{2E333900-84A0-4BA1-B0A0-33DE66395BF7}" type="pres">
      <dgm:prSet presAssocID="{DCB68A70-CD58-4BB7-8571-C3E29E803C8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FEBBBFA-812A-40D7-95D4-922FEDA4F027}" type="pres">
      <dgm:prSet presAssocID="{B11EB1E2-730C-4424-AAC0-5FBC12F1DC82}" presName="root" presStyleCnt="0"/>
      <dgm:spPr/>
    </dgm:pt>
    <dgm:pt modelId="{0F63A96F-8817-47E8-9EAE-77AFAF638BE0}" type="pres">
      <dgm:prSet presAssocID="{B11EB1E2-730C-4424-AAC0-5FBC12F1DC82}" presName="rootComposite" presStyleCnt="0"/>
      <dgm:spPr/>
    </dgm:pt>
    <dgm:pt modelId="{1CD66A30-B8C9-4A89-A99A-4F1F1B1B6E15}" type="pres">
      <dgm:prSet presAssocID="{B11EB1E2-730C-4424-AAC0-5FBC12F1DC82}" presName="rootText" presStyleLbl="node1" presStyleIdx="0" presStyleCnt="2" custLinFactX="25028" custLinFactNeighborX="100000" custLinFactNeighborY="-33233"/>
      <dgm:spPr/>
    </dgm:pt>
    <dgm:pt modelId="{6D0742D5-3B84-4B57-946B-731D4638062F}" type="pres">
      <dgm:prSet presAssocID="{B11EB1E2-730C-4424-AAC0-5FBC12F1DC82}" presName="rootConnector" presStyleLbl="node1" presStyleIdx="0" presStyleCnt="2"/>
      <dgm:spPr/>
    </dgm:pt>
    <dgm:pt modelId="{6966D36F-9BCA-405D-B5A0-2FEE19025C34}" type="pres">
      <dgm:prSet presAssocID="{B11EB1E2-730C-4424-AAC0-5FBC12F1DC82}" presName="childShape" presStyleCnt="0"/>
      <dgm:spPr/>
    </dgm:pt>
    <dgm:pt modelId="{C4DF3321-C01A-4BCE-B25D-686013882B19}" type="pres">
      <dgm:prSet presAssocID="{795355FF-B9BD-4D79-A7A0-BCBF0DC07314}" presName="root" presStyleCnt="0"/>
      <dgm:spPr/>
    </dgm:pt>
    <dgm:pt modelId="{750A9A3B-9DA0-4098-BC0B-7BCC0C523277}" type="pres">
      <dgm:prSet presAssocID="{795355FF-B9BD-4D79-A7A0-BCBF0DC07314}" presName="rootComposite" presStyleCnt="0"/>
      <dgm:spPr/>
    </dgm:pt>
    <dgm:pt modelId="{D8AF1D25-BB29-43B1-B173-65588FC985C7}" type="pres">
      <dgm:prSet presAssocID="{795355FF-B9BD-4D79-A7A0-BCBF0DC07314}" presName="rootText" presStyleLbl="node1" presStyleIdx="1" presStyleCnt="2" custLinFactX="-21604" custLinFactNeighborX="-100000" custLinFactNeighborY="33232"/>
      <dgm:spPr/>
    </dgm:pt>
    <dgm:pt modelId="{68ECC0D0-5447-4F65-9F47-378871ED06B2}" type="pres">
      <dgm:prSet presAssocID="{795355FF-B9BD-4D79-A7A0-BCBF0DC07314}" presName="rootConnector" presStyleLbl="node1" presStyleIdx="1" presStyleCnt="2"/>
      <dgm:spPr/>
    </dgm:pt>
    <dgm:pt modelId="{BBECC101-3ACE-4EB2-B7DD-E056CDC077AF}" type="pres">
      <dgm:prSet presAssocID="{795355FF-B9BD-4D79-A7A0-BCBF0DC07314}" presName="childShape" presStyleCnt="0"/>
      <dgm:spPr/>
    </dgm:pt>
  </dgm:ptLst>
  <dgm:cxnLst>
    <dgm:cxn modelId="{137D950E-91E2-4535-9167-3609A7817074}" type="presOf" srcId="{795355FF-B9BD-4D79-A7A0-BCBF0DC07314}" destId="{D8AF1D25-BB29-43B1-B173-65588FC985C7}" srcOrd="0" destOrd="0" presId="urn:microsoft.com/office/officeart/2005/8/layout/hierarchy3"/>
    <dgm:cxn modelId="{D0AE322F-DE0A-448D-B1A9-4425BFE7C58E}" type="presOf" srcId="{795355FF-B9BD-4D79-A7A0-BCBF0DC07314}" destId="{68ECC0D0-5447-4F65-9F47-378871ED06B2}" srcOrd="1" destOrd="0" presId="urn:microsoft.com/office/officeart/2005/8/layout/hierarchy3"/>
    <dgm:cxn modelId="{A1B9BE39-CEE9-4ECC-A6A0-5AD144089622}" srcId="{DCB68A70-CD58-4BB7-8571-C3E29E803C87}" destId="{795355FF-B9BD-4D79-A7A0-BCBF0DC07314}" srcOrd="1" destOrd="0" parTransId="{472129AC-894E-458C-BF3F-00DE5C9B88E3}" sibTransId="{73443C04-3E11-4862-948E-D0A863B80D78}"/>
    <dgm:cxn modelId="{1F3D3A78-B0FC-4CC4-8401-0C998925CD66}" type="presOf" srcId="{B11EB1E2-730C-4424-AAC0-5FBC12F1DC82}" destId="{1CD66A30-B8C9-4A89-A99A-4F1F1B1B6E15}" srcOrd="0" destOrd="0" presId="urn:microsoft.com/office/officeart/2005/8/layout/hierarchy3"/>
    <dgm:cxn modelId="{7A38EA7B-0D3D-4430-B962-AA2E99C8B7E0}" type="presOf" srcId="{B11EB1E2-730C-4424-AAC0-5FBC12F1DC82}" destId="{6D0742D5-3B84-4B57-946B-731D4638062F}" srcOrd="1" destOrd="0" presId="urn:microsoft.com/office/officeart/2005/8/layout/hierarchy3"/>
    <dgm:cxn modelId="{A03E75AC-A494-49ED-92E1-D3CE81064D0A}" type="presOf" srcId="{DCB68A70-CD58-4BB7-8571-C3E29E803C87}" destId="{2E333900-84A0-4BA1-B0A0-33DE66395BF7}" srcOrd="0" destOrd="0" presId="urn:microsoft.com/office/officeart/2005/8/layout/hierarchy3"/>
    <dgm:cxn modelId="{B583C6E5-2191-4FA0-BDDB-E0793F3B5D34}" srcId="{DCB68A70-CD58-4BB7-8571-C3E29E803C87}" destId="{B11EB1E2-730C-4424-AAC0-5FBC12F1DC82}" srcOrd="0" destOrd="0" parTransId="{04E97D58-775A-4644-A504-0822C688BBDF}" sibTransId="{97777213-8876-4283-B69B-834D1EE5D14C}"/>
    <dgm:cxn modelId="{D0E96067-DC5C-42F8-841C-4CE23CB92D99}" type="presParOf" srcId="{2E333900-84A0-4BA1-B0A0-33DE66395BF7}" destId="{7FEBBBFA-812A-40D7-95D4-922FEDA4F027}" srcOrd="0" destOrd="0" presId="urn:microsoft.com/office/officeart/2005/8/layout/hierarchy3"/>
    <dgm:cxn modelId="{52AD9E91-CAE8-495C-B6F9-8B1132FC11DD}" type="presParOf" srcId="{7FEBBBFA-812A-40D7-95D4-922FEDA4F027}" destId="{0F63A96F-8817-47E8-9EAE-77AFAF638BE0}" srcOrd="0" destOrd="0" presId="urn:microsoft.com/office/officeart/2005/8/layout/hierarchy3"/>
    <dgm:cxn modelId="{5C289497-EE70-4DD9-9300-67AA464A9D02}" type="presParOf" srcId="{0F63A96F-8817-47E8-9EAE-77AFAF638BE0}" destId="{1CD66A30-B8C9-4A89-A99A-4F1F1B1B6E15}" srcOrd="0" destOrd="0" presId="urn:microsoft.com/office/officeart/2005/8/layout/hierarchy3"/>
    <dgm:cxn modelId="{CD9200FA-9871-4B99-B425-55B4A4038242}" type="presParOf" srcId="{0F63A96F-8817-47E8-9EAE-77AFAF638BE0}" destId="{6D0742D5-3B84-4B57-946B-731D4638062F}" srcOrd="1" destOrd="0" presId="urn:microsoft.com/office/officeart/2005/8/layout/hierarchy3"/>
    <dgm:cxn modelId="{863C3602-36D5-42B8-82E8-0573EAA3A47C}" type="presParOf" srcId="{7FEBBBFA-812A-40D7-95D4-922FEDA4F027}" destId="{6966D36F-9BCA-405D-B5A0-2FEE19025C34}" srcOrd="1" destOrd="0" presId="urn:microsoft.com/office/officeart/2005/8/layout/hierarchy3"/>
    <dgm:cxn modelId="{37E2FC73-34D0-463A-8033-E171C8DCF2AC}" type="presParOf" srcId="{2E333900-84A0-4BA1-B0A0-33DE66395BF7}" destId="{C4DF3321-C01A-4BCE-B25D-686013882B19}" srcOrd="1" destOrd="0" presId="urn:microsoft.com/office/officeart/2005/8/layout/hierarchy3"/>
    <dgm:cxn modelId="{28B3CB87-8865-436E-B610-458AE27480E2}" type="presParOf" srcId="{C4DF3321-C01A-4BCE-B25D-686013882B19}" destId="{750A9A3B-9DA0-4098-BC0B-7BCC0C523277}" srcOrd="0" destOrd="0" presId="urn:microsoft.com/office/officeart/2005/8/layout/hierarchy3"/>
    <dgm:cxn modelId="{44360E03-0FE9-413E-956C-FE09D44BE265}" type="presParOf" srcId="{750A9A3B-9DA0-4098-BC0B-7BCC0C523277}" destId="{D8AF1D25-BB29-43B1-B173-65588FC985C7}" srcOrd="0" destOrd="0" presId="urn:microsoft.com/office/officeart/2005/8/layout/hierarchy3"/>
    <dgm:cxn modelId="{439B481A-E427-444E-8555-F58C94B0BA10}" type="presParOf" srcId="{750A9A3B-9DA0-4098-BC0B-7BCC0C523277}" destId="{68ECC0D0-5447-4F65-9F47-378871ED06B2}" srcOrd="1" destOrd="0" presId="urn:microsoft.com/office/officeart/2005/8/layout/hierarchy3"/>
    <dgm:cxn modelId="{CA6A7038-7416-477B-894D-420257B38320}" type="presParOf" srcId="{C4DF3321-C01A-4BCE-B25D-686013882B19}" destId="{BBECC101-3ACE-4EB2-B7DD-E056CDC077A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66A30-B8C9-4A89-A99A-4F1F1B1B6E15}">
      <dsp:nvSpPr>
        <dsp:cNvPr id="0" name=""/>
        <dsp:cNvSpPr/>
      </dsp:nvSpPr>
      <dsp:spPr>
        <a:xfrm>
          <a:off x="5843141" y="231155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Front end</a:t>
          </a:r>
          <a:endParaRPr lang="en-US" sz="6500" kern="1200"/>
        </a:p>
      </dsp:txBody>
      <dsp:txXfrm>
        <a:off x="5911567" y="299581"/>
        <a:ext cx="4535606" cy="2199377"/>
      </dsp:txXfrm>
    </dsp:sp>
    <dsp:sp modelId="{D8AF1D25-BB29-43B1-B173-65588FC985C7}">
      <dsp:nvSpPr>
        <dsp:cNvPr id="0" name=""/>
        <dsp:cNvSpPr/>
      </dsp:nvSpPr>
      <dsp:spPr>
        <a:xfrm>
          <a:off x="159960" y="1783930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Back end</a:t>
          </a:r>
          <a:endParaRPr lang="en-US" sz="6500" kern="1200"/>
        </a:p>
      </dsp:txBody>
      <dsp:txXfrm>
        <a:off x="228386" y="1852356"/>
        <a:ext cx="4535606" cy="2199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B9E68-6ECF-4002-B34A-5B6614F63584}" type="datetimeFigureOut">
              <a:t>20/06/2024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88A7-6F1B-43B1-83AE-CB9ABB2A1CA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27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392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122959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La </a:t>
            </a:r>
            <a:r>
              <a:rPr lang="fr-FR" b="1" i="0" dirty="0">
                <a:solidFill>
                  <a:srgbClr val="122959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conteneurisation informatique</a:t>
            </a:r>
            <a:r>
              <a:rPr lang="fr-FR" b="0" i="0" dirty="0">
                <a:solidFill>
                  <a:srgbClr val="122959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 permet de packager tous les services, scripts, API, librairies dont une application a besoin. L’objectif : en permettre l’exécution sur n’importe quel noyau compatible.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673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projet</a:t>
            </a:r>
            <a:r>
              <a:rPr lang="en-US" dirty="0"/>
              <a:t> se compose de </a:t>
            </a:r>
            <a:r>
              <a:rPr lang="en-US" dirty="0" err="1"/>
              <a:t>plusieurs</a:t>
            </a:r>
            <a:r>
              <a:rPr lang="en-US" dirty="0"/>
              <a:t> étapes, </a:t>
            </a:r>
            <a:r>
              <a:rPr lang="en-US" dirty="0" err="1"/>
              <a:t>impliquant</a:t>
            </a:r>
            <a:r>
              <a:rPr lang="en-US" dirty="0"/>
              <a:t> </a:t>
            </a:r>
            <a:r>
              <a:rPr lang="en-US" dirty="0" err="1"/>
              <a:t>l’installation</a:t>
            </a:r>
            <a:r>
              <a:rPr lang="en-US" dirty="0"/>
              <a:t>, la configuration, et la gestion d’un </a:t>
            </a:r>
            <a:r>
              <a:rPr lang="en-US" dirty="0" err="1"/>
              <a:t>environnement</a:t>
            </a:r>
            <a:r>
              <a:rPr lang="en-US" dirty="0"/>
              <a:t> Docker sur </a:t>
            </a:r>
            <a:r>
              <a:rPr lang="en-US" dirty="0" err="1"/>
              <a:t>une</a:t>
            </a:r>
            <a:r>
              <a:rPr lang="en-US" dirty="0"/>
              <a:t> machine Debian, </a:t>
            </a:r>
            <a:r>
              <a:rPr lang="en-US" dirty="0" err="1"/>
              <a:t>ainsi</a:t>
            </a:r>
            <a:r>
              <a:rPr lang="en-US" dirty="0"/>
              <a:t> que la </a:t>
            </a:r>
            <a:r>
              <a:rPr lang="en-US" dirty="0" err="1"/>
              <a:t>création</a:t>
            </a:r>
            <a:r>
              <a:rPr lang="en-US" dirty="0"/>
              <a:t> et </a:t>
            </a:r>
            <a:r>
              <a:rPr lang="en-US" dirty="0" err="1"/>
              <a:t>l’administration</a:t>
            </a:r>
            <a:r>
              <a:rPr lang="en-US" dirty="0"/>
              <a:t> </a:t>
            </a:r>
            <a:r>
              <a:rPr lang="en-US" dirty="0" err="1"/>
              <a:t>d’applications</a:t>
            </a:r>
            <a:r>
              <a:rPr lang="en-US" dirty="0"/>
              <a:t> à travers </a:t>
            </a:r>
            <a:r>
              <a:rPr lang="en-US" dirty="0" err="1"/>
              <a:t>une</a:t>
            </a:r>
            <a:r>
              <a:rPr lang="en-US" dirty="0"/>
              <a:t> interface Angular. </a:t>
            </a:r>
            <a:r>
              <a:rPr lang="en-US" dirty="0" err="1"/>
              <a:t>Voici</a:t>
            </a:r>
            <a:r>
              <a:rPr lang="en-US" dirty="0"/>
              <a:t> un résumé des </a:t>
            </a:r>
            <a:r>
              <a:rPr lang="en-US" dirty="0" err="1"/>
              <a:t>principales</a:t>
            </a:r>
            <a:r>
              <a:rPr lang="en-US" dirty="0"/>
              <a:t> étapes 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981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Première Étape : Installation de Debian et Docker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Installation de Debian</a:t>
            </a:r>
            <a:r>
              <a:rPr lang="en-US"/>
              <a:t> :</a:t>
            </a:r>
            <a:endParaRPr lang="fr-FR"/>
          </a:p>
          <a:p>
            <a:pPr marL="285750" lvl="1" indent="-285750">
              <a:buFont typeface="Arial"/>
              <a:buChar char="•"/>
            </a:pPr>
            <a:r>
              <a:rPr lang="en-US" err="1"/>
              <a:t>Choisir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machine dans l’inventaire avec au moins 4 Go de RAM.</a:t>
            </a:r>
            <a:endParaRPr lang="fr-FR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Installer 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d’exploitation</a:t>
            </a:r>
            <a:r>
              <a:rPr lang="en-US" dirty="0"/>
              <a:t> Debian sur </a:t>
            </a:r>
            <a:r>
              <a:rPr lang="en-US" dirty="0" err="1"/>
              <a:t>cette</a:t>
            </a:r>
            <a:r>
              <a:rPr lang="en-US" dirty="0"/>
              <a:t> machine.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Installation de Docker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Installer Docker sur </a:t>
            </a:r>
            <a:r>
              <a:rPr lang="en-US" dirty="0" err="1"/>
              <a:t>cette</a:t>
            </a:r>
            <a:r>
              <a:rPr lang="en-US" dirty="0"/>
              <a:t> machine Debian pour </a:t>
            </a:r>
            <a:r>
              <a:rPr lang="en-US" dirty="0" err="1"/>
              <a:t>permettre</a:t>
            </a:r>
            <a:r>
              <a:rPr lang="en-US" dirty="0"/>
              <a:t> la gestion des </a:t>
            </a:r>
            <a:r>
              <a:rPr lang="en-US" dirty="0" err="1"/>
              <a:t>conteneurs</a:t>
            </a:r>
            <a:r>
              <a:rPr lang="en-US" dirty="0"/>
              <a:t>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968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Deuxième Étape : Développement Frontend avec </a:t>
            </a:r>
            <a:r>
              <a:rPr lang="fr-FR" dirty="0" err="1"/>
              <a:t>Angular</a:t>
            </a:r>
            <a:endParaRPr lang="fr-FR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Création</a:t>
            </a:r>
            <a:r>
              <a:rPr lang="en-US" b="1" dirty="0"/>
              <a:t> </a:t>
            </a:r>
            <a:r>
              <a:rPr lang="en-US" b="1" dirty="0" err="1"/>
              <a:t>d’une</a:t>
            </a:r>
            <a:r>
              <a:rPr lang="en-US" b="1" dirty="0"/>
              <a:t> application Angular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Développer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application Angular </a:t>
            </a:r>
            <a:r>
              <a:rPr lang="en-US" dirty="0" err="1"/>
              <a:t>basée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maquette (design) </a:t>
            </a:r>
            <a:r>
              <a:rPr lang="en-US" dirty="0" err="1"/>
              <a:t>fournie</a:t>
            </a:r>
            <a:r>
              <a:rPr lang="en-US" dirty="0"/>
              <a:t>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Héberger</a:t>
            </a:r>
            <a:r>
              <a:rPr lang="en-US" dirty="0"/>
              <a:t> le site dans un </a:t>
            </a:r>
            <a:r>
              <a:rPr lang="en-US" dirty="0" err="1"/>
              <a:t>environnement</a:t>
            </a:r>
            <a:r>
              <a:rPr lang="en-US" dirty="0"/>
              <a:t> de </a:t>
            </a:r>
            <a:r>
              <a:rPr lang="en-US" dirty="0" err="1"/>
              <a:t>votre</a:t>
            </a:r>
            <a:r>
              <a:rPr lang="en-US" dirty="0"/>
              <a:t> choix.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064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Troisième Étape : Configuration des Répertoires et Scripts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Création</a:t>
            </a:r>
            <a:r>
              <a:rPr lang="en-US" b="1" dirty="0"/>
              <a:t> des </a:t>
            </a:r>
            <a:r>
              <a:rPr lang="en-US" b="1" dirty="0" err="1"/>
              <a:t>Répertoires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Créer</a:t>
            </a:r>
            <a:r>
              <a:rPr lang="en-US" dirty="0"/>
              <a:t> deux </a:t>
            </a:r>
            <a:r>
              <a:rPr lang="en-US" dirty="0" err="1"/>
              <a:t>répertoires</a:t>
            </a:r>
            <a:r>
              <a:rPr lang="en-US" dirty="0"/>
              <a:t> sous /home : template (pour stocker les templates) et script (pour stocker les scripts).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Gestion des Droits </a:t>
            </a:r>
            <a:r>
              <a:rPr lang="en-US" b="1" dirty="0" err="1"/>
              <a:t>d’Accès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Créer</a:t>
            </a:r>
            <a:r>
              <a:rPr lang="en-US" dirty="0"/>
              <a:t> un </a:t>
            </a:r>
            <a:r>
              <a:rPr lang="en-US" dirty="0" err="1"/>
              <a:t>utilisateur</a:t>
            </a:r>
            <a:r>
              <a:rPr lang="en-US" dirty="0"/>
              <a:t> Debian avec des droits </a:t>
            </a:r>
            <a:r>
              <a:rPr lang="en-US" dirty="0" err="1"/>
              <a:t>d'accès</a:t>
            </a:r>
            <a:r>
              <a:rPr lang="en-US" dirty="0"/>
              <a:t> </a:t>
            </a:r>
            <a:r>
              <a:rPr lang="en-US" dirty="0" err="1"/>
              <a:t>exclusifs</a:t>
            </a:r>
            <a:r>
              <a:rPr lang="en-US" dirty="0"/>
              <a:t> à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répertoires</a:t>
            </a:r>
            <a:r>
              <a:rPr lang="en-US" dirty="0"/>
              <a:t>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Développement de Scripts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Créer</a:t>
            </a:r>
            <a:r>
              <a:rPr lang="en-US" dirty="0"/>
              <a:t> des scripts pour :</a:t>
            </a:r>
            <a:endParaRPr lang="fr-FR" dirty="0"/>
          </a:p>
          <a:p>
            <a:pPr marL="285750" lvl="2" indent="-285750">
              <a:buFont typeface="Arial"/>
              <a:buChar char="•"/>
            </a:pPr>
            <a:r>
              <a:rPr lang="en-US" dirty="0" err="1"/>
              <a:t>Créer</a:t>
            </a:r>
            <a:r>
              <a:rPr lang="en-US" dirty="0"/>
              <a:t> des </a:t>
            </a:r>
            <a:r>
              <a:rPr lang="en-US" dirty="0" err="1"/>
              <a:t>conteneurs</a:t>
            </a:r>
            <a:r>
              <a:rPr lang="en-US" dirty="0"/>
              <a:t> Docker.</a:t>
            </a:r>
            <a:endParaRPr lang="fr-FR" dirty="0"/>
          </a:p>
          <a:p>
            <a:pPr marL="285750" lvl="2" indent="-285750">
              <a:buFont typeface="Arial"/>
              <a:buChar char="•"/>
            </a:pPr>
            <a:r>
              <a:rPr lang="en-US" dirty="0" err="1"/>
              <a:t>Supprimer</a:t>
            </a:r>
            <a:r>
              <a:rPr lang="en-US" dirty="0"/>
              <a:t> des </a:t>
            </a:r>
            <a:r>
              <a:rPr lang="en-US" dirty="0" err="1"/>
              <a:t>conteneurs</a:t>
            </a:r>
            <a:r>
              <a:rPr lang="en-US" dirty="0"/>
              <a:t> Docker.</a:t>
            </a:r>
            <a:endParaRPr lang="fr-FR" dirty="0"/>
          </a:p>
          <a:p>
            <a:pPr marL="285750" lvl="2" indent="-285750">
              <a:buFont typeface="Arial"/>
              <a:buChar char="•"/>
            </a:pPr>
            <a:r>
              <a:rPr lang="en-US" dirty="0"/>
              <a:t>Stocker le hash du </a:t>
            </a:r>
            <a:r>
              <a:rPr lang="en-US" dirty="0" err="1"/>
              <a:t>conteneur</a:t>
            </a:r>
            <a:r>
              <a:rPr lang="en-US" dirty="0"/>
              <a:t> dans </a:t>
            </a:r>
            <a:r>
              <a:rPr lang="en-US" dirty="0" err="1"/>
              <a:t>une</a:t>
            </a:r>
            <a:r>
              <a:rPr lang="en-US" dirty="0"/>
              <a:t> variable.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Utiliser</a:t>
            </a:r>
            <a:r>
              <a:rPr lang="en-US" dirty="0"/>
              <a:t> les scripts </a:t>
            </a:r>
            <a:r>
              <a:rPr lang="en-US" dirty="0" err="1"/>
              <a:t>en</a:t>
            </a:r>
            <a:r>
              <a:rPr lang="en-US" dirty="0"/>
              <a:t> passant des arguments pour des </a:t>
            </a:r>
            <a:r>
              <a:rPr lang="en-US" dirty="0" err="1"/>
              <a:t>opérations</a:t>
            </a:r>
            <a:r>
              <a:rPr lang="en-US" dirty="0"/>
              <a:t> </a:t>
            </a:r>
            <a:r>
              <a:rPr lang="en-US" dirty="0" err="1"/>
              <a:t>spécifiques</a:t>
            </a:r>
            <a:r>
              <a:rPr lang="en-US" dirty="0"/>
              <a:t> sur les </a:t>
            </a:r>
            <a:r>
              <a:rPr lang="en-US" dirty="0" err="1"/>
              <a:t>conteneurs</a:t>
            </a:r>
            <a:r>
              <a:rPr lang="en-US" dirty="0"/>
              <a:t>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921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Dernière Étape : Gestion des Données et Base de Données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Implémentation</a:t>
            </a:r>
            <a:r>
              <a:rPr lang="en-US" b="1" dirty="0"/>
              <a:t> de la Base de Données</a:t>
            </a:r>
            <a:r>
              <a:rPr lang="en-US" dirty="0"/>
              <a:t> :</a:t>
            </a:r>
            <a:endParaRPr lang="fr-FR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Déployer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de données MySQL </a:t>
            </a:r>
            <a:r>
              <a:rPr lang="en-US" dirty="0" err="1"/>
              <a:t>selon</a:t>
            </a:r>
            <a:r>
              <a:rPr lang="en-US" dirty="0"/>
              <a:t> la maquette qui sera </a:t>
            </a:r>
            <a:r>
              <a:rPr lang="en-US" dirty="0" err="1"/>
              <a:t>fournie</a:t>
            </a:r>
            <a:r>
              <a:rPr lang="en-US" dirty="0"/>
              <a:t>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Intégration</a:t>
            </a:r>
            <a:r>
              <a:rPr lang="en-US" b="1" dirty="0"/>
              <a:t> des Scripts avec MySQL</a:t>
            </a:r>
            <a:r>
              <a:rPr lang="en-US" dirty="0"/>
              <a:t> :</a:t>
            </a:r>
            <a:endParaRPr lang="fr-FR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Adapter les scripts pour </a:t>
            </a:r>
            <a:r>
              <a:rPr lang="en-US" dirty="0" err="1"/>
              <a:t>persister</a:t>
            </a:r>
            <a:r>
              <a:rPr lang="en-US" dirty="0"/>
              <a:t> les </a:t>
            </a:r>
            <a:r>
              <a:rPr lang="en-US" dirty="0" err="1"/>
              <a:t>informations</a:t>
            </a:r>
            <a:r>
              <a:rPr lang="en-US" dirty="0"/>
              <a:t> des </a:t>
            </a:r>
            <a:r>
              <a:rPr lang="en-US" dirty="0" err="1"/>
              <a:t>conteneurs</a:t>
            </a:r>
            <a:r>
              <a:rPr lang="en-US" dirty="0"/>
              <a:t> dans la base de données MySQL.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Enregistrer</a:t>
            </a:r>
            <a:r>
              <a:rPr lang="en-US" dirty="0"/>
              <a:t> les </a:t>
            </a:r>
            <a:r>
              <a:rPr lang="en-US" dirty="0" err="1"/>
              <a:t>détails</a:t>
            </a:r>
            <a:r>
              <a:rPr lang="en-US" dirty="0"/>
              <a:t> </a:t>
            </a:r>
            <a:r>
              <a:rPr lang="en-US" dirty="0" err="1"/>
              <a:t>pertinents</a:t>
            </a:r>
            <a:r>
              <a:rPr lang="en-US" dirty="0"/>
              <a:t> des </a:t>
            </a:r>
            <a:r>
              <a:rPr lang="en-US" dirty="0" err="1"/>
              <a:t>conteneurs</a:t>
            </a:r>
            <a:r>
              <a:rPr lang="en-US" dirty="0"/>
              <a:t> (</a:t>
            </a:r>
            <a:r>
              <a:rPr lang="en-US" dirty="0" err="1"/>
              <a:t>création</a:t>
            </a:r>
            <a:r>
              <a:rPr lang="en-US" dirty="0"/>
              <a:t>, </a:t>
            </a:r>
            <a:r>
              <a:rPr lang="en-US" dirty="0" err="1"/>
              <a:t>informations</a:t>
            </a:r>
            <a:r>
              <a:rPr lang="en-US" dirty="0"/>
              <a:t>, suppression, modification) dans MySQL.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292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612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Architecture du Projet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Front End</a:t>
            </a:r>
            <a:r>
              <a:rPr lang="en-US"/>
              <a:t> :</a:t>
            </a:r>
            <a:endParaRPr lang="fr-FR"/>
          </a:p>
          <a:p>
            <a:pPr marL="285750" lvl="1" indent="-285750">
              <a:buFont typeface="Arial"/>
              <a:buChar char="•"/>
            </a:pPr>
            <a:r>
              <a:rPr lang="en-US"/>
              <a:t>Application Angular </a:t>
            </a:r>
            <a:r>
              <a:rPr lang="en-US" err="1"/>
              <a:t>présentant</a:t>
            </a:r>
            <a:r>
              <a:rPr lang="en-US"/>
              <a:t> un formulaire pour :</a:t>
            </a:r>
            <a:endParaRPr lang="fr-FR"/>
          </a:p>
          <a:p>
            <a:pPr marL="285750" lvl="2" indent="-285750">
              <a:buFont typeface="Arial"/>
              <a:buChar char="•"/>
            </a:pPr>
            <a:r>
              <a:rPr lang="en-US" err="1"/>
              <a:t>Créer</a:t>
            </a:r>
            <a:r>
              <a:rPr lang="en-US"/>
              <a:t>, tester, </a:t>
            </a:r>
            <a:r>
              <a:rPr lang="en-US" err="1"/>
              <a:t>ou</a:t>
            </a:r>
            <a:r>
              <a:rPr lang="en-US"/>
              <a:t> consulter des applications.</a:t>
            </a:r>
            <a:endParaRPr lang="fr-FR"/>
          </a:p>
          <a:p>
            <a:pPr marL="285750" lvl="2" indent="-285750">
              <a:buFont typeface="Arial"/>
              <a:buChar char="•"/>
            </a:pPr>
            <a:r>
              <a:rPr lang="en-US" dirty="0"/>
              <a:t>Demander des </a:t>
            </a:r>
            <a:r>
              <a:rPr lang="en-US" dirty="0" err="1"/>
              <a:t>informations</a:t>
            </a:r>
            <a:r>
              <a:rPr lang="en-US" dirty="0"/>
              <a:t> sur le </a:t>
            </a:r>
            <a:r>
              <a:rPr lang="en-US" dirty="0" err="1"/>
              <a:t>projet</a:t>
            </a:r>
            <a:r>
              <a:rPr lang="en-US" dirty="0"/>
              <a:t> (</a:t>
            </a:r>
            <a:r>
              <a:rPr lang="en-US" dirty="0" err="1"/>
              <a:t>dépendances</a:t>
            </a:r>
            <a:r>
              <a:rPr lang="en-US" dirty="0"/>
              <a:t>, framework, </a:t>
            </a:r>
            <a:r>
              <a:rPr lang="en-US" dirty="0" err="1"/>
              <a:t>commandes</a:t>
            </a:r>
            <a:r>
              <a:rPr lang="en-US" dirty="0"/>
              <a:t> de </a:t>
            </a:r>
            <a:r>
              <a:rPr lang="en-US" dirty="0" err="1"/>
              <a:t>lancement</a:t>
            </a:r>
            <a:r>
              <a:rPr lang="en-US" dirty="0"/>
              <a:t>).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Back End</a:t>
            </a:r>
            <a:r>
              <a:rPr lang="en-US" dirty="0"/>
              <a:t> :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Basé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machine Debian </a:t>
            </a:r>
            <a:r>
              <a:rPr lang="en-US" dirty="0" err="1"/>
              <a:t>hébergeant</a:t>
            </a:r>
            <a:r>
              <a:rPr lang="en-US" dirty="0"/>
              <a:t> Docker.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Utilise</a:t>
            </a:r>
            <a:r>
              <a:rPr lang="en-US" dirty="0"/>
              <a:t> des scripts pour </a:t>
            </a:r>
            <a:r>
              <a:rPr lang="en-US" dirty="0" err="1"/>
              <a:t>manipuler</a:t>
            </a:r>
            <a:r>
              <a:rPr lang="en-US" dirty="0"/>
              <a:t> Docker et </a:t>
            </a:r>
            <a:r>
              <a:rPr lang="en-US" dirty="0" err="1"/>
              <a:t>fournir</a:t>
            </a:r>
            <a:r>
              <a:rPr lang="en-US" dirty="0"/>
              <a:t> des </a:t>
            </a:r>
            <a:r>
              <a:rPr lang="en-US" dirty="0" err="1"/>
              <a:t>informations</a:t>
            </a:r>
            <a:r>
              <a:rPr lang="en-US" dirty="0"/>
              <a:t> à </a:t>
            </a:r>
            <a:r>
              <a:rPr lang="en-US" dirty="0" err="1"/>
              <a:t>l’utilisateur</a:t>
            </a:r>
            <a:r>
              <a:rPr lang="en-US" dirty="0"/>
              <a:t>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Application backend </a:t>
            </a:r>
            <a:r>
              <a:rPr lang="en-US" dirty="0" err="1"/>
              <a:t>développée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Authentification</a:t>
            </a:r>
            <a:r>
              <a:rPr lang="en-US" dirty="0"/>
              <a:t> </a:t>
            </a:r>
            <a:r>
              <a:rPr lang="en-US" dirty="0" err="1"/>
              <a:t>utilisateur</a:t>
            </a:r>
            <a:r>
              <a:rPr lang="en-US" dirty="0"/>
              <a:t> pour </a:t>
            </a:r>
            <a:r>
              <a:rPr lang="en-US" dirty="0" err="1"/>
              <a:t>gérer</a:t>
            </a:r>
            <a:r>
              <a:rPr lang="en-US" dirty="0"/>
              <a:t> et </a:t>
            </a:r>
            <a:r>
              <a:rPr lang="en-US" dirty="0" err="1"/>
              <a:t>accéder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à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propres</a:t>
            </a:r>
            <a:r>
              <a:rPr lang="en-US" dirty="0"/>
              <a:t> </a:t>
            </a:r>
            <a:r>
              <a:rPr lang="en-US" dirty="0" err="1"/>
              <a:t>conteneurs</a:t>
            </a:r>
            <a:r>
              <a:rPr lang="en-US" dirty="0"/>
              <a:t> et templates.</a:t>
            </a:r>
            <a:endParaRPr lang="fr-FR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Gestion des </a:t>
            </a:r>
            <a:r>
              <a:rPr lang="en-US" dirty="0" err="1"/>
              <a:t>conteneurs</a:t>
            </a:r>
            <a:r>
              <a:rPr lang="en-US" dirty="0"/>
              <a:t> (</a:t>
            </a:r>
            <a:r>
              <a:rPr lang="en-US" dirty="0" err="1"/>
              <a:t>création</a:t>
            </a:r>
            <a:r>
              <a:rPr lang="en-US" dirty="0"/>
              <a:t>, modification, </a:t>
            </a:r>
            <a:r>
              <a:rPr lang="en-US" dirty="0" err="1"/>
              <a:t>arrêt</a:t>
            </a:r>
            <a:r>
              <a:rPr lang="en-US" dirty="0"/>
              <a:t>, </a:t>
            </a:r>
            <a:r>
              <a:rPr lang="en-US" dirty="0" err="1"/>
              <a:t>redémarrage</a:t>
            </a:r>
            <a:r>
              <a:rPr lang="en-US" dirty="0"/>
              <a:t>) via </a:t>
            </a:r>
            <a:r>
              <a:rPr lang="en-US" dirty="0" err="1"/>
              <a:t>l’application</a:t>
            </a:r>
            <a:r>
              <a:rPr lang="en-US" dirty="0"/>
              <a:t>.</a:t>
            </a:r>
            <a:endParaRPr lang="fr-F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427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 Display" panose="020B0004020202020204" pitchFamily="34" charset="0"/>
              </a:rPr>
              <a:t>Comment transmettre ce travail aux futurs étudiants de première année</a:t>
            </a:r>
            <a:r>
              <a:rPr lang="fr-FR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 Display" panose="020B0004020202020204" pitchFamily="34" charset="0"/>
              </a:rPr>
              <a:t>​ :</a:t>
            </a:r>
            <a:endParaRPr lang="fr-FR" sz="1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ptos" panose="020B00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Rédiger un guide écrit avec captures d'écran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Organiser un atelier de formation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Créer et maintenir un dépôt GitHub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Développer un wiki interne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/>
            <a:r>
              <a:rPr lang="fr-FR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fr-FR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fr-FR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ptos" panose="020B0004020202020204" pitchFamily="34" charset="0"/>
              </a:rPr>
              <a:t>​</a:t>
            </a:r>
            <a:endParaRPr lang="fr-FR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8A7-6F1B-43B1-83AE-CB9ABB2A1CA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21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517627-F2C0-0C96-BFEA-9E6E85D08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8E4D89-F57D-6126-ED09-3F4E1B953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DA6D7F-8CC2-46D7-A284-C3717C22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F7BA57-DC68-EA32-2A00-D60F5B57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FEA77-8804-D2E3-FA8B-A06CB250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44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C4D1B-735C-336F-9A63-72E363BC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577E43-2D8C-3F16-7DE7-B602B41E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793F73-39EB-0DCD-E5EC-83CC99F1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BD60DA-576C-7D0E-A8C5-78231DB9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F70345-1572-E8E1-BE9D-B625CFEB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487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B074F-6BF6-9FE5-E841-591ACA76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AD4155-3777-2371-C2ED-24BFE6480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E627AD-7A5B-DB88-725D-66A10CA0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7CD1FD-F62B-47E6-CD91-A22984DC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F63E95-E635-08D3-1C85-76BE8FD5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39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22724-B3D2-B69F-CAA9-220D4168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3E36B9-B1C0-9493-9729-6C99B2994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72F95-8550-5A29-0D3C-5B6939C21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9F9C69-0BBC-886E-8123-F1A87569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9D93A5-2D23-6D4D-CC76-0F069A69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C2C996-D1EB-DA94-D0E2-A332CAB9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387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19854-495E-C465-1E13-5EB2AE5F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53C900-74F3-A449-0C51-C10393B96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5B7B39-8C96-5736-9A9D-F31630D8A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02E6BE-17E3-E981-FF6B-ADF3DE095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3AEC81-1B92-48B9-4C7A-5877E4A19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FE5BCD-F9B1-77E3-5942-1AB919497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DE6CC08-D415-209B-0C11-2CEDB8CE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8555FB-76FA-4C5E-746B-56367680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37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5F0BE-CF09-86A5-EB80-26D196AD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A3C37D-7F8E-7F0A-4315-86232B80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48284B-F2B2-2056-5089-02C9ABB1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65BC49-F02F-2FAB-E36F-1C06A8DB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72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6378F1-98A5-DCCE-33B4-E0B9073F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3F2EB5-71BC-FD06-4576-1F661D1B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D602FD-FC0D-A7D6-7283-9DF892A6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89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477686-E14E-B92A-87DE-65AE3DCE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350B4E-5849-8802-6660-B141C42FB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2E093A-CC25-A5B4-0484-09ADA9776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64CA9C-F6F0-EE1E-D9E1-87414F62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30E11F-73B1-1E75-5B58-C05F4740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54A5AA-2091-B7EE-FCDE-93D77490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04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B11E6-887C-4148-AD28-1035711C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E4DAC0-8ECC-4467-1CED-681B46264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66D50-1ED1-0021-27EB-0B6597EC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5AF62D-A7A6-866A-7F47-7C932359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3E030B-6E21-53EB-D2E7-C36A0311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4E0079-B411-BE67-5828-55A87C5F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13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7BA48-1A0C-060B-CFCF-5AA0EB2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997261-D5EE-4DD3-3EE1-BBB090402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673B8B-C2CD-5DAC-BF8F-7E607CD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79D9A-D392-D47B-F75D-2068FC35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39EE25-7B81-BFB5-58D6-7D4D8008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55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1C6EFC-91C9-DE22-F349-205C452E7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84424B1-10FD-EFD2-A004-95055BC39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3B09D5-D4A7-AF84-E7D1-C70F2DD4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9756F8-E632-4775-615E-40E96B49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EF60A2-D3B3-1AB5-FD47-145703CA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77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E3FDFE6-FDD1-2B4E-E07C-C0E100F5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DDA20F-DDB2-D717-5027-590F1EBA8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597CFC-5E8B-2F60-E775-57A64EF31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3DC7A-559B-46A6-A553-F0E395A2D45F}" type="datetimeFigureOut">
              <a:rPr lang="fr-FR" smtClean="0"/>
              <a:t>20/06/2024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DBFD4D-E14D-297C-43F8-388B48D8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CEF6B-4F74-0ADE-378C-DE207BAB1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6D9F2-EEFC-4693-820A-3AD9DA6D3E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0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A5692CB-A241-5AF5-DE61-B2BF4E6A91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1868"/>
          <a:stretch/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775481A-09BA-2BA1-CE43-4D5D572BEF6F}"/>
              </a:ext>
            </a:extLst>
          </p:cNvPr>
          <p:cNvSpPr txBox="1"/>
          <p:nvPr/>
        </p:nvSpPr>
        <p:spPr>
          <a:xfrm>
            <a:off x="6343650" y="3962400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Atelier </a:t>
            </a:r>
            <a:r>
              <a:rPr lang="en-US" sz="4400" b="1" u="sng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pédagogique</a:t>
            </a:r>
            <a:r>
              <a:rPr lang="en-US" sz="44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seq2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AB832A-C526-DFEC-6B07-225C6C1ECD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908" r="4" b="4"/>
          <a:stretch/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A804EB6-81BA-F4CA-E6A9-E74D33372E4C}"/>
              </a:ext>
            </a:extLst>
          </p:cNvPr>
          <p:cNvSpPr>
            <a:spLocks noGrp="1"/>
          </p:cNvSpPr>
          <p:nvPr/>
        </p:nvSpPr>
        <p:spPr>
          <a:xfrm>
            <a:off x="8642230" y="5363805"/>
            <a:ext cx="1795732" cy="1397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/>
              <a:t>EL Qadi </a:t>
            </a:r>
            <a:r>
              <a:rPr lang="fr-FR" sz="1200" err="1"/>
              <a:t>Intissar</a:t>
            </a:r>
            <a:endParaRPr lang="fr-FR" sz="1200"/>
          </a:p>
          <a:p>
            <a:r>
              <a:rPr lang="fr-FR" sz="1200"/>
              <a:t>Assas Amine</a:t>
            </a:r>
          </a:p>
          <a:p>
            <a:r>
              <a:rPr lang="fr-FR" sz="1200"/>
              <a:t>Garonne Quentin</a:t>
            </a:r>
          </a:p>
          <a:p>
            <a:r>
              <a:rPr lang="fr-FR" sz="1200" err="1"/>
              <a:t>Graffeille</a:t>
            </a:r>
            <a:r>
              <a:rPr lang="fr-FR" sz="1200"/>
              <a:t> </a:t>
            </a:r>
            <a:r>
              <a:rPr lang="fr-FR" sz="1200" err="1"/>
              <a:t>Lucca</a:t>
            </a:r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400141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2EA71D-BCD7-91E7-4F59-6C0C8ED2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CD755D-BAF7-B6C3-7B43-05E821B0C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Explication du projet</a:t>
            </a:r>
          </a:p>
          <a:p>
            <a:r>
              <a:rPr lang="fr-FR" sz="1800">
                <a:solidFill>
                  <a:schemeClr val="tx2"/>
                </a:solidFill>
              </a:rPr>
              <a:t>Attentes du groupe CDAN</a:t>
            </a:r>
          </a:p>
          <a:p>
            <a:r>
              <a:rPr lang="fr-FR" sz="1800">
                <a:solidFill>
                  <a:schemeClr val="tx2"/>
                </a:solidFill>
              </a:rPr>
              <a:t>Diagramme de l’ensemble du projet</a:t>
            </a:r>
          </a:p>
          <a:p>
            <a:r>
              <a:rPr lang="fr-FR" sz="1800">
                <a:solidFill>
                  <a:schemeClr val="tx2"/>
                </a:solidFill>
              </a:rPr>
              <a:t>Architecture</a:t>
            </a:r>
          </a:p>
          <a:p>
            <a:r>
              <a:rPr lang="fr-FR" sz="1800">
                <a:solidFill>
                  <a:schemeClr val="tx2"/>
                </a:solidFill>
              </a:rPr>
              <a:t>Backend : Amine et </a:t>
            </a:r>
            <a:r>
              <a:rPr lang="fr-FR" sz="1800" err="1">
                <a:solidFill>
                  <a:schemeClr val="tx2"/>
                </a:solidFill>
              </a:rPr>
              <a:t>Intissar</a:t>
            </a:r>
            <a:endParaRPr lang="fr-FR" sz="1800">
              <a:solidFill>
                <a:schemeClr val="tx2"/>
              </a:solidFill>
            </a:endParaRPr>
          </a:p>
          <a:p>
            <a:r>
              <a:rPr lang="fr-FR" sz="1800">
                <a:solidFill>
                  <a:schemeClr val="tx2"/>
                </a:solidFill>
              </a:rPr>
              <a:t>Frontend : Quentin et </a:t>
            </a:r>
            <a:r>
              <a:rPr lang="fr-FR" sz="1800" err="1">
                <a:solidFill>
                  <a:schemeClr val="tx2"/>
                </a:solidFill>
              </a:rPr>
              <a:t>Lucca</a:t>
            </a:r>
            <a:endParaRPr lang="fr-FR" sz="1800">
              <a:solidFill>
                <a:schemeClr val="tx2"/>
              </a:solidFill>
            </a:endParaRPr>
          </a:p>
          <a:p>
            <a:r>
              <a:rPr lang="fr-FR" sz="1800">
                <a:solidFill>
                  <a:schemeClr val="tx2"/>
                </a:solidFill>
              </a:rPr>
              <a:t>Application et test</a:t>
            </a:r>
          </a:p>
          <a:p>
            <a:r>
              <a:rPr lang="fr-FR" sz="1800">
                <a:solidFill>
                  <a:schemeClr val="tx2"/>
                </a:solidFill>
              </a:rPr>
              <a:t>Débrief avec les CDAN</a:t>
            </a:r>
          </a:p>
          <a:p>
            <a:r>
              <a:rPr lang="fr-FR" sz="1800">
                <a:solidFill>
                  <a:schemeClr val="tx2"/>
                </a:solidFill>
              </a:rPr>
              <a:t>Conclusion</a:t>
            </a:r>
          </a:p>
          <a:p>
            <a:endParaRPr lang="fr-FR" sz="18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 4" descr="Une image contenant texte, diagramme, ligne, capture d’écran&#10;&#10;Description générée automatiquement">
            <a:extLst>
              <a:ext uri="{FF2B5EF4-FFF2-40B4-BE49-F238E27FC236}">
                <a16:creationId xmlns:a16="http://schemas.microsoft.com/office/drawing/2014/main" id="{658536CB-7395-9C28-87D8-7AEBDF6E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917347"/>
            <a:ext cx="4142232" cy="194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2D2937-B96C-484A-9141-102ADA83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279" y="1741337"/>
            <a:ext cx="6739136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Explication du Projet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604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C1699B1B-2057-3C37-6483-60F8AEC9D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9450" y="643467"/>
            <a:ext cx="847310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125D3D5-319C-A6CD-2A43-8CB092133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645" y="2661065"/>
            <a:ext cx="6415589" cy="1436839"/>
          </a:xfrm>
          <a:prstGeom prst="rect">
            <a:avLst/>
          </a:prstGeom>
        </p:spPr>
      </p:pic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ECF38AE1-1B4D-1D7D-D543-DE206C34D9E1}"/>
              </a:ext>
            </a:extLst>
          </p:cNvPr>
          <p:cNvSpPr/>
          <p:nvPr/>
        </p:nvSpPr>
        <p:spPr>
          <a:xfrm rot="20698546">
            <a:off x="4612058" y="3670042"/>
            <a:ext cx="1207699" cy="27604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3CBA5A2-337C-73F6-335E-8D270765B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898" y="2661066"/>
            <a:ext cx="6415589" cy="143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5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CC9FD1D-1316-62FB-0F31-395FFA5F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Attentes du groupe CDAN</a:t>
            </a:r>
          </a:p>
        </p:txBody>
      </p:sp>
    </p:spTree>
    <p:extLst>
      <p:ext uri="{BB962C8B-B14F-4D97-AF65-F5344CB8AC3E}">
        <p14:creationId xmlns:p14="http://schemas.microsoft.com/office/powerpoint/2010/main" val="344955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5DFD2C-49C1-B023-9304-0C3BE3BA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1</a:t>
            </a:r>
            <a:r>
              <a:rPr lang="fr-FR" sz="3600" baseline="30000">
                <a:solidFill>
                  <a:schemeClr val="tx2"/>
                </a:solidFill>
              </a:rPr>
              <a:t>ère</a:t>
            </a:r>
            <a:r>
              <a:rPr lang="fr-FR" sz="3600">
                <a:solidFill>
                  <a:schemeClr val="tx2"/>
                </a:solidFill>
              </a:rPr>
              <a:t> Etape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B1CEF-1D6F-CD33-7043-2069EF83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Installer Debian sur une machine sélectionner dans l’inventaire avec 4gb de ram au minimum et y installer docker.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Docker Logo (PNG e SVG) Download Vetorial Transparente">
            <a:extLst>
              <a:ext uri="{FF2B5EF4-FFF2-40B4-BE49-F238E27FC236}">
                <a16:creationId xmlns:a16="http://schemas.microsoft.com/office/drawing/2014/main" id="{BD211F21-835B-DFBC-BE04-56E2530C8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392" y="2156212"/>
            <a:ext cx="4142232" cy="34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1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0739DC-9A36-0511-1658-23EA1E12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2</a:t>
            </a:r>
            <a:r>
              <a:rPr lang="fr-FR" sz="3600" baseline="30000">
                <a:solidFill>
                  <a:schemeClr val="tx2"/>
                </a:solidFill>
              </a:rPr>
              <a:t>ème</a:t>
            </a:r>
            <a:r>
              <a:rPr lang="fr-FR" sz="3600">
                <a:solidFill>
                  <a:schemeClr val="tx2"/>
                </a:solidFill>
              </a:rPr>
              <a:t> Etape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B4CED-0232-3E37-F9E0-50D522F8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Crée une application en Angular et crée le site à partir de la maquette sur un environnement de votre choix.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2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 4" descr="Une image contenant logo, symbole, Police, rouge&#10;&#10;Description générée automatiquement">
            <a:extLst>
              <a:ext uri="{FF2B5EF4-FFF2-40B4-BE49-F238E27FC236}">
                <a16:creationId xmlns:a16="http://schemas.microsoft.com/office/drawing/2014/main" id="{4BD06314-55D3-B3A6-F942-D9B5290D3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245" y="1700784"/>
            <a:ext cx="3530526" cy="43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2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CCF555-BC08-2633-4D56-BDD26BBA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3</a:t>
            </a:r>
            <a:r>
              <a:rPr lang="fr-FR" sz="3600" baseline="30000">
                <a:solidFill>
                  <a:schemeClr val="tx2"/>
                </a:solidFill>
              </a:rPr>
              <a:t>ème</a:t>
            </a:r>
            <a:r>
              <a:rPr lang="fr-FR" sz="3600">
                <a:solidFill>
                  <a:schemeClr val="tx2"/>
                </a:solidFill>
              </a:rPr>
              <a:t> Etape</a:t>
            </a:r>
          </a:p>
        </p:txBody>
      </p:sp>
      <p:pic>
        <p:nvPicPr>
          <p:cNvPr id="7" name="Graphic 6" descr="Crayon">
            <a:extLst>
              <a:ext uri="{FF2B5EF4-FFF2-40B4-BE49-F238E27FC236}">
                <a16:creationId xmlns:a16="http://schemas.microsoft.com/office/drawing/2014/main" id="{A52BF3AF-BBA4-46D3-22C3-AE927A107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36EC03-3F52-82B8-B3D5-1AEC33A26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Crée un utilisateur debian et lui donner les droits d’accès à lui uniquement pour accéder et écrire dans les répertoires</a:t>
            </a:r>
          </a:p>
          <a:p>
            <a:r>
              <a:rPr lang="fr-FR" sz="1800">
                <a:solidFill>
                  <a:schemeClr val="tx2"/>
                </a:solidFill>
              </a:rPr>
              <a:t>Il faut crée 2 répertoires template</a:t>
            </a:r>
          </a:p>
          <a:p>
            <a:r>
              <a:rPr lang="fr-FR" sz="1800">
                <a:solidFill>
                  <a:schemeClr val="tx2"/>
                </a:solidFill>
              </a:rPr>
              <a:t>Crée les premiers scripts de création d’un conteneur ainsi que de suppression d’un conteneur </a:t>
            </a:r>
          </a:p>
          <a:p>
            <a:endParaRPr lang="fr-FR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929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6B21E2-006F-2F53-51B3-C02842AA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Dernière étape</a:t>
            </a:r>
          </a:p>
        </p:txBody>
      </p:sp>
      <p:pic>
        <p:nvPicPr>
          <p:cNvPr id="7" name="Graphic 6" descr="Tableau">
            <a:extLst>
              <a:ext uri="{FF2B5EF4-FFF2-40B4-BE49-F238E27FC236}">
                <a16:creationId xmlns:a16="http://schemas.microsoft.com/office/drawing/2014/main" id="{1EA8A252-D5FF-D31E-2BED-5F3F6BD43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7D4A3-E874-98DD-7850-09FDA123A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Implémenter la maquette de la base de données (MY SQL)</a:t>
            </a:r>
          </a:p>
          <a:p>
            <a:r>
              <a:rPr lang="fr-FR" sz="1800">
                <a:solidFill>
                  <a:schemeClr val="tx2"/>
                </a:solidFill>
              </a:rPr>
              <a:t>Faire persister les données dans la base de données </a:t>
            </a:r>
            <a:r>
              <a:rPr lang="fr-FR" sz="1800" err="1">
                <a:solidFill>
                  <a:schemeClr val="tx2"/>
                </a:solidFill>
              </a:rPr>
              <a:t>mysql</a:t>
            </a:r>
            <a:r>
              <a:rPr lang="fr-FR" sz="1800">
                <a:solidFill>
                  <a:schemeClr val="tx2"/>
                </a:solidFill>
              </a:rPr>
              <a:t> et stocker uniquement les informations du conteneur dans la base de données</a:t>
            </a:r>
          </a:p>
          <a:p>
            <a:pPr marL="0" indent="0">
              <a:buNone/>
            </a:pPr>
            <a:endParaRPr lang="fr-FR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557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A344175-6808-30EA-B49D-D18A35B7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Petit diagramme sur l’ensemble du projet :</a:t>
            </a:r>
          </a:p>
        </p:txBody>
      </p:sp>
      <p:pic>
        <p:nvPicPr>
          <p:cNvPr id="5" name="Espace réservé du contenu 4" descr="Une image contenant diagramme, ligne, croquis, dessin&#10;&#10;Description générée automatiquement">
            <a:extLst>
              <a:ext uri="{FF2B5EF4-FFF2-40B4-BE49-F238E27FC236}">
                <a16:creationId xmlns:a16="http://schemas.microsoft.com/office/drawing/2014/main" id="{744EB92D-268C-588C-97BF-B19636F2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188" y="561290"/>
            <a:ext cx="6402474" cy="5509940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023548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40F39F-1E47-AB4C-B1F1-681AE9E5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761" y="5766711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Architecture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228EBF-A7DC-F509-337D-29708069F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7135" y="107722"/>
            <a:ext cx="11853869" cy="556403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196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41D63-358D-0A50-CEDC-A14B4557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 parties durant ce projet :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B3125BC-7D3D-D3D0-D94E-24ECC9D83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4858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616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7A5EA2-481B-8A79-3105-DC12A376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Back end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top">
            <a:extLst>
              <a:ext uri="{FF2B5EF4-FFF2-40B4-BE49-F238E27FC236}">
                <a16:creationId xmlns:a16="http://schemas.microsoft.com/office/drawing/2014/main" id="{EFA3F138-444C-F281-7767-4A296F3D1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61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C3B126-CA62-571D-E42D-B823BB16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Amine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FDC429-5320-8974-5998-6A8F5D2FE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 lnSpcReduction="10000"/>
          </a:bodyPr>
          <a:lstStyle/>
          <a:p>
            <a:r>
              <a:rPr lang="fr-FR" sz="1500" b="1" dirty="0">
                <a:solidFill>
                  <a:schemeClr val="tx2"/>
                </a:solidFill>
                <a:ea typeface="+mn-lt"/>
                <a:cs typeface="+mn-lt"/>
              </a:rPr>
              <a:t>Préparation du système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Mise à jour du système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Installation des dépendances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Vérification des </a:t>
            </a:r>
            <a:r>
              <a:rPr lang="fr-FR" sz="1500" dirty="0" err="1">
                <a:solidFill>
                  <a:schemeClr val="tx2"/>
                </a:solidFill>
                <a:ea typeface="+mn-lt"/>
                <a:cs typeface="+mn-lt"/>
              </a:rPr>
              <a:t>pré-requis</a:t>
            </a:r>
            <a:endParaRPr lang="fr-FR" sz="1500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fr-FR" sz="1500" b="1" dirty="0">
                <a:solidFill>
                  <a:schemeClr val="tx2"/>
                </a:solidFill>
                <a:ea typeface="+mn-lt"/>
                <a:cs typeface="+mn-lt"/>
              </a:rPr>
              <a:t>Installation de Docker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Ajouter la clé GPG de Docker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Ajouter le dépôt Docker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Installation de Docker</a:t>
            </a:r>
            <a:endParaRPr lang="fr-FR" sz="1500" dirty="0">
              <a:solidFill>
                <a:schemeClr val="tx2"/>
              </a:solidFill>
            </a:endParaRPr>
          </a:p>
          <a:p>
            <a:r>
              <a:rPr lang="fr-FR" sz="1500" b="1" dirty="0">
                <a:solidFill>
                  <a:schemeClr val="tx2"/>
                </a:solidFill>
                <a:ea typeface="+mn-lt"/>
                <a:cs typeface="+mn-lt"/>
              </a:rPr>
              <a:t>Configuration post-installation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  <a:ea typeface="+mn-lt"/>
                <a:cs typeface="+mn-lt"/>
              </a:rPr>
              <a:t>Essayer l'application Docker Desktop</a:t>
            </a:r>
            <a:endParaRPr lang="fr-FR" sz="1500" dirty="0">
              <a:solidFill>
                <a:schemeClr val="tx2"/>
              </a:solidFill>
            </a:endParaRPr>
          </a:p>
          <a:p>
            <a:pPr lvl="1"/>
            <a:r>
              <a:rPr lang="fr-FR" sz="1500" dirty="0">
                <a:solidFill>
                  <a:schemeClr val="tx2"/>
                </a:solidFill>
              </a:rPr>
              <a:t>Se familiariser avec le logiciel et les conteneurs</a:t>
            </a:r>
          </a:p>
          <a:p>
            <a:pPr lvl="1"/>
            <a:r>
              <a:rPr lang="fr-FR" sz="1500" dirty="0">
                <a:solidFill>
                  <a:schemeClr val="tx2"/>
                </a:solidFill>
              </a:rPr>
              <a:t>Cré notre </a:t>
            </a:r>
            <a:r>
              <a:rPr lang="fr-FR" sz="1500">
                <a:solidFill>
                  <a:schemeClr val="tx2"/>
                </a:solidFill>
              </a:rPr>
              <a:t>premier conteneur</a:t>
            </a:r>
          </a:p>
          <a:p>
            <a:endParaRPr lang="fr-FR" sz="1500" dirty="0">
              <a:solidFill>
                <a:schemeClr val="tx2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 6" descr="Une image contenant capture d’écran, cercle, conception&#10;&#10;Description générée automatiquement">
            <a:extLst>
              <a:ext uri="{FF2B5EF4-FFF2-40B4-BE49-F238E27FC236}">
                <a16:creationId xmlns:a16="http://schemas.microsoft.com/office/drawing/2014/main" id="{EB8FD1F6-8F86-5183-5954-A4667DF7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538" y="1700784"/>
            <a:ext cx="4040443" cy="43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73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211B44-CAF1-29F5-4102-F0F42912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Intissar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C46D36-EFD4-6CEF-3849-E7F70B0C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r-FR" sz="1500" b="1">
                <a:solidFill>
                  <a:schemeClr val="tx2"/>
                </a:solidFill>
                <a:ea typeface="+mn-lt"/>
                <a:cs typeface="+mn-lt"/>
              </a:rPr>
              <a:t>Recherche du matériel</a:t>
            </a:r>
            <a:endParaRPr lang="fr-FR" sz="1500" b="1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PC.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Souris/clavier.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Autres périphériques nécessaires.</a:t>
            </a:r>
            <a:endParaRPr lang="fr-FR" sz="1500">
              <a:solidFill>
                <a:schemeClr val="tx2"/>
              </a:solidFill>
            </a:endParaRPr>
          </a:p>
          <a:p>
            <a:r>
              <a:rPr lang="fr-FR" sz="1500" b="1">
                <a:solidFill>
                  <a:schemeClr val="tx2"/>
                </a:solidFill>
                <a:ea typeface="+mn-lt"/>
                <a:cs typeface="+mn-lt"/>
              </a:rPr>
              <a:t>Vérification de l'installation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Vérification du statut de Docker.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Afficher les informations sur Docker.</a:t>
            </a:r>
            <a:endParaRPr lang="fr-FR" sz="1500">
              <a:solidFill>
                <a:schemeClr val="tx2"/>
              </a:solidFill>
            </a:endParaRPr>
          </a:p>
          <a:p>
            <a:r>
              <a:rPr lang="fr-FR" sz="1500" b="1">
                <a:solidFill>
                  <a:schemeClr val="tx2"/>
                </a:solidFill>
                <a:ea typeface="+mn-lt"/>
                <a:cs typeface="+mn-lt"/>
              </a:rPr>
              <a:t>Exemples d'utilisation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ea typeface="+mn-lt"/>
                <a:cs typeface="+mn-lt"/>
              </a:rPr>
              <a:t>Télécharger et exécuter une image Docker du tutoriel.</a:t>
            </a:r>
            <a:endParaRPr lang="fr-FR" sz="1500">
              <a:solidFill>
                <a:schemeClr val="tx2"/>
              </a:solidFill>
            </a:endParaRPr>
          </a:p>
          <a:p>
            <a:pPr lvl="1"/>
            <a:r>
              <a:rPr lang="fr-FR" sz="1500">
                <a:solidFill>
                  <a:schemeClr val="tx2"/>
                </a:solidFill>
                <a:latin typeface="Aptos" panose="02110004020202020204"/>
                <a:ea typeface="+mn-lt"/>
                <a:cs typeface="Arial"/>
              </a:rPr>
              <a:t>Se familiariser avec le logiciel et les conteneurs.</a:t>
            </a:r>
          </a:p>
          <a:p>
            <a:pPr lvl="1"/>
            <a:endParaRPr lang="fr-FR" sz="1500">
              <a:solidFill>
                <a:schemeClr val="tx2"/>
              </a:solidFill>
            </a:endParaRPr>
          </a:p>
          <a:p>
            <a:endParaRPr lang="fr-FR" sz="1500" b="1">
              <a:solidFill>
                <a:schemeClr val="tx2"/>
              </a:solidFill>
            </a:endParaRPr>
          </a:p>
          <a:p>
            <a:endParaRPr lang="fr-FR" sz="1500" b="1">
              <a:solidFill>
                <a:schemeClr val="tx2"/>
              </a:solidFill>
            </a:endParaRPr>
          </a:p>
          <a:p>
            <a:endParaRPr lang="fr-FR" sz="150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Image 5" descr="Une image contenant capture d’écran, cercle, conception&#10;&#10;Description générée automatiquement">
            <a:extLst>
              <a:ext uri="{FF2B5EF4-FFF2-40B4-BE49-F238E27FC236}">
                <a16:creationId xmlns:a16="http://schemas.microsoft.com/office/drawing/2014/main" id="{37DB1D8F-7E11-6B38-8EAD-7B5CA545E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286" y="1700784"/>
            <a:ext cx="4040443" cy="43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13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13D549-50E6-4132-6B07-3185DACB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Front end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tilisateur">
            <a:extLst>
              <a:ext uri="{FF2B5EF4-FFF2-40B4-BE49-F238E27FC236}">
                <a16:creationId xmlns:a16="http://schemas.microsoft.com/office/drawing/2014/main" id="{054758E8-6D4E-4F68-AD2A-D68FCB791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8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53E367-AD85-7913-151C-1D00D741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 err="1">
                <a:solidFill>
                  <a:schemeClr val="tx2"/>
                </a:solidFill>
              </a:rPr>
              <a:t>Lucca</a:t>
            </a:r>
            <a:endParaRPr lang="fr-FR" sz="360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7EF8BE-18C1-F89F-B7C8-BEBFEEFF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5288462" cy="3995733"/>
          </a:xfrm>
        </p:spPr>
        <p:txBody>
          <a:bodyPr anchor="t">
            <a:normAutofit/>
          </a:bodyPr>
          <a:lstStyle/>
          <a:p>
            <a:pPr>
              <a:buFont typeface="Arial"/>
              <a:buChar char="•"/>
            </a:pPr>
            <a:r>
              <a:rPr lang="fr-FR" sz="1800" b="1">
                <a:solidFill>
                  <a:schemeClr val="tx2"/>
                </a:solidFill>
                <a:latin typeface="Arial"/>
                <a:cs typeface="Arial"/>
              </a:rPr>
              <a:t>Mise en place de la base de données</a:t>
            </a:r>
            <a:endParaRPr lang="fr-FR" sz="1800">
              <a:solidFill>
                <a:schemeClr val="tx2"/>
              </a:solidFill>
              <a:latin typeface="Arial"/>
              <a:cs typeface="Arial"/>
            </a:endParaRPr>
          </a:p>
          <a:p>
            <a:pPr marL="971550" lvl="1" indent="-285750">
              <a:buFont typeface="Arial"/>
              <a:buChar char="•"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Utilisation du logiciel </a:t>
            </a:r>
            <a:r>
              <a:rPr lang="fr-FR" sz="1800" err="1">
                <a:solidFill>
                  <a:schemeClr val="tx2"/>
                </a:solidFill>
                <a:latin typeface="Arial"/>
                <a:cs typeface="Arial"/>
              </a:rPr>
              <a:t>JMerise</a:t>
            </a:r>
            <a:endParaRPr lang="fr-FR" sz="1800">
              <a:solidFill>
                <a:schemeClr val="tx2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fr-FR" sz="1800" b="1">
                <a:solidFill>
                  <a:schemeClr val="tx2"/>
                </a:solidFill>
                <a:latin typeface="Arial"/>
                <a:cs typeface="Arial"/>
              </a:rPr>
              <a:t>Début de la phase de développement</a:t>
            </a:r>
            <a:endParaRPr lang="fr-FR" sz="1800">
              <a:solidFill>
                <a:schemeClr val="tx2"/>
              </a:solidFill>
              <a:latin typeface="Arial"/>
              <a:cs typeface="Arial"/>
            </a:endParaRPr>
          </a:p>
          <a:p>
            <a:pPr marL="971550" lvl="1" indent="-285750">
              <a:buFont typeface="Arial"/>
              <a:buChar char="•"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Début sur </a:t>
            </a:r>
            <a:r>
              <a:rPr lang="fr-FR" sz="1800" err="1">
                <a:solidFill>
                  <a:schemeClr val="tx2"/>
                </a:solidFill>
                <a:latin typeface="Arial"/>
                <a:cs typeface="Arial"/>
              </a:rPr>
              <a:t>Angular</a:t>
            </a: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 et premier </a:t>
            </a:r>
            <a:r>
              <a:rPr lang="fr-FR" sz="1800" err="1">
                <a:solidFill>
                  <a:schemeClr val="tx2"/>
                </a:solidFill>
                <a:latin typeface="Arial"/>
                <a:cs typeface="Arial"/>
              </a:rPr>
              <a:t>template</a:t>
            </a: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 sous html</a:t>
            </a:r>
          </a:p>
          <a:p>
            <a:pPr marL="971550" lvl="1" indent="-285750">
              <a:buFont typeface="Arial,Sans-Serif" panose="020B0604020202020204" pitchFamily="34" charset="0"/>
              <a:buChar char="•"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Prise en compte des attendues </a:t>
            </a:r>
            <a:endParaRPr lang="en-US" sz="1800">
              <a:solidFill>
                <a:schemeClr val="tx2"/>
              </a:solidFill>
              <a:latin typeface="Arial"/>
              <a:cs typeface="Arial"/>
            </a:endParaRPr>
          </a:p>
          <a:p>
            <a:pPr marL="971550" lvl="1" indent="-285750">
              <a:buFont typeface="Arial,Sans-Serif" panose="020B0604020202020204" pitchFamily="34" charset="0"/>
              <a:buChar char="•"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prise en main de la </a:t>
            </a:r>
            <a:r>
              <a:rPr lang="fr-FR" sz="1800" err="1">
                <a:solidFill>
                  <a:schemeClr val="tx2"/>
                </a:solidFill>
                <a:latin typeface="Arial"/>
                <a:cs typeface="Arial"/>
              </a:rPr>
              <a:t>librérie</a:t>
            </a: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 </a:t>
            </a:r>
            <a:r>
              <a:rPr lang="fr-FR" sz="1800" err="1">
                <a:solidFill>
                  <a:schemeClr val="tx2"/>
                </a:solidFill>
                <a:latin typeface="Arial"/>
                <a:cs typeface="Arial"/>
              </a:rPr>
              <a:t>tkinter</a:t>
            </a: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 sous Python </a:t>
            </a:r>
            <a:endParaRPr lang="en-US" sz="1800">
              <a:solidFill>
                <a:schemeClr val="tx2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fr-FR" sz="1800" b="1">
                <a:solidFill>
                  <a:schemeClr val="tx2"/>
                </a:solidFill>
                <a:latin typeface="Arial"/>
                <a:cs typeface="Arial"/>
              </a:rPr>
              <a:t>Phase de développement</a:t>
            </a:r>
          </a:p>
          <a:p>
            <a:pPr marL="971550" lvl="1" indent="-285750">
              <a:buFont typeface="Arial"/>
              <a:buChar char="•"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Codage des éléments </a:t>
            </a:r>
          </a:p>
          <a:p>
            <a:pPr lvl="1" indent="0">
              <a:buNone/>
            </a:pPr>
            <a:r>
              <a:rPr lang="fr-FR" sz="1800">
                <a:solidFill>
                  <a:schemeClr val="tx2"/>
                </a:solidFill>
                <a:latin typeface="Arial"/>
                <a:cs typeface="Arial"/>
              </a:rPr>
              <a:t>nécessaires à l'application</a:t>
            </a:r>
          </a:p>
          <a:p>
            <a:pPr lvl="1" indent="0">
              <a:buNone/>
            </a:pPr>
            <a:endParaRPr lang="fr-FR" sz="1800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fr-FR" sz="1800" b="1">
              <a:solidFill>
                <a:schemeClr val="tx2"/>
              </a:solidFill>
              <a:latin typeface="Aptos" panose="02110004020202020204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51E782DF-5F04-A5F2-2FD2-B962808E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907024"/>
            <a:ext cx="4142232" cy="396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1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B77E323-C0FA-98CA-3536-5802FA9F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Quentin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80E69EB-9210-5764-E1DA-6E887732E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53" y="2356368"/>
            <a:ext cx="4765949" cy="4239963"/>
          </a:xfrm>
        </p:spPr>
        <p:txBody>
          <a:bodyPr anchor="t">
            <a:normAutofit/>
          </a:bodyPr>
          <a:lstStyle/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Test de </a:t>
            </a:r>
            <a:r>
              <a:rPr lang="fr-FR" sz="1800" b="1" dirty="0" err="1">
                <a:solidFill>
                  <a:schemeClr val="tx2"/>
                </a:solidFill>
                <a:latin typeface="Arial"/>
                <a:cs typeface="Arial"/>
              </a:rPr>
              <a:t>Angular</a:t>
            </a: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 et 1</a:t>
            </a:r>
            <a:r>
              <a:rPr lang="fr-FR" sz="1800" b="1" baseline="30000" dirty="0">
                <a:solidFill>
                  <a:schemeClr val="tx2"/>
                </a:solidFill>
                <a:latin typeface="Arial"/>
                <a:cs typeface="Arial"/>
              </a:rPr>
              <a:t>er</a:t>
            </a: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fr-FR" sz="1800" b="1" dirty="0" err="1">
                <a:solidFill>
                  <a:schemeClr val="tx2"/>
                </a:solidFill>
                <a:latin typeface="Arial"/>
                <a:cs typeface="Arial"/>
              </a:rPr>
              <a:t>essaie.ts</a:t>
            </a:r>
            <a:endParaRPr lang="fr-FR" sz="1800" b="1" dirty="0">
              <a:solidFill>
                <a:schemeClr val="tx2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Envoie des e-mails / PP final</a:t>
            </a:r>
          </a:p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Contact avec les CDAN</a:t>
            </a:r>
          </a:p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Développement d’une ébauche.html</a:t>
            </a:r>
          </a:p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Début de la phase de développement.py</a:t>
            </a:r>
            <a:endParaRPr lang="fr-FR" sz="1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971550" lvl="1" indent="-285750">
              <a:buFont typeface="Arial"/>
              <a:buChar char="•"/>
            </a:pP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Prise en compte des attendues </a:t>
            </a:r>
          </a:p>
          <a:p>
            <a:pPr marL="971550" lvl="1" indent="-285750">
              <a:buFont typeface="Arial"/>
              <a:buChar char="•"/>
            </a:pP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Prise en main de la </a:t>
            </a:r>
            <a:r>
              <a:rPr lang="fr-FR" sz="1800" dirty="0" err="1">
                <a:solidFill>
                  <a:schemeClr val="tx2"/>
                </a:solidFill>
                <a:latin typeface="Arial"/>
                <a:cs typeface="Arial"/>
              </a:rPr>
              <a:t>librérie</a:t>
            </a: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 </a:t>
            </a:r>
            <a:r>
              <a:rPr lang="fr-FR" sz="1800" dirty="0" err="1">
                <a:solidFill>
                  <a:schemeClr val="tx2"/>
                </a:solidFill>
                <a:latin typeface="Arial"/>
                <a:cs typeface="Arial"/>
              </a:rPr>
              <a:t>tkinter</a:t>
            </a: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 </a:t>
            </a:r>
          </a:p>
          <a:p>
            <a:pPr lvl="1" indent="0">
              <a:buNone/>
            </a:pP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sous python</a:t>
            </a:r>
            <a:endParaRPr lang="fr-FR" sz="1800" dirty="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fr-FR" sz="1800" b="1" dirty="0">
                <a:solidFill>
                  <a:schemeClr val="tx2"/>
                </a:solidFill>
                <a:latin typeface="Arial"/>
                <a:cs typeface="Arial"/>
              </a:rPr>
              <a:t>Phase de développement.py</a:t>
            </a:r>
          </a:p>
          <a:p>
            <a:pPr marL="971550" lvl="1" indent="-285750">
              <a:buFont typeface="Arial"/>
              <a:buChar char="•"/>
            </a:pP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Codage des éléments </a:t>
            </a:r>
          </a:p>
          <a:p>
            <a:pPr lvl="1" indent="0">
              <a:buNone/>
            </a:pPr>
            <a:r>
              <a:rPr lang="fr-FR" sz="1800" dirty="0">
                <a:solidFill>
                  <a:schemeClr val="tx2"/>
                </a:solidFill>
                <a:latin typeface="Arial"/>
                <a:cs typeface="Arial"/>
              </a:rPr>
              <a:t>nécessaires à l'application</a:t>
            </a:r>
            <a:endParaRPr lang="fr-FR" b="1" dirty="0">
              <a:solidFill>
                <a:schemeClr val="tx2"/>
              </a:solidFill>
              <a:latin typeface="Arial"/>
              <a:cs typeface="Arial"/>
            </a:endParaRPr>
          </a:p>
          <a:p>
            <a:pPr lvl="1" indent="0">
              <a:buNone/>
            </a:pPr>
            <a:endParaRPr lang="fr-FR" sz="2200" dirty="0">
              <a:solidFill>
                <a:schemeClr val="tx2"/>
              </a:solidFill>
              <a:latin typeface="Arial"/>
              <a:cs typeface="Arial"/>
            </a:endParaRPr>
          </a:p>
          <a:p>
            <a:pPr lvl="1" indent="0">
              <a:buNone/>
            </a:pPr>
            <a:endParaRPr lang="fr-FR" sz="1800" dirty="0">
              <a:solidFill>
                <a:schemeClr val="tx2"/>
              </a:solidFill>
              <a:latin typeface="Arial"/>
              <a:cs typeface="Arial"/>
            </a:endParaRPr>
          </a:p>
          <a:p>
            <a:pPr lvl="1" indent="0">
              <a:buNone/>
            </a:pPr>
            <a:endParaRPr lang="fr-FR" sz="1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fr-FR" sz="1800" b="1" dirty="0">
              <a:solidFill>
                <a:schemeClr val="tx2"/>
              </a:solidFill>
              <a:latin typeface="Aptos" panose="02110004020202020204"/>
              <a:cs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555852-4837-4FF5-A188-3CF50BE0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907024"/>
            <a:ext cx="4142232" cy="396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89E53-296A-86C3-E1FD-787FF091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7ED963-674F-F581-EA91-E90B9A1A8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EFD52C-9342-B113-4529-F19749D45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754" y="0"/>
            <a:ext cx="3376246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2C98510-65A5-7D0D-666D-90C3A7BC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87" y="2163522"/>
            <a:ext cx="3823612" cy="104694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62F83DA-5370-5EF7-9C63-C4AE69AAA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900" y="3594326"/>
            <a:ext cx="5480330" cy="1487126"/>
          </a:xfrm>
          <a:prstGeom prst="rect">
            <a:avLst/>
          </a:prstGeom>
        </p:spPr>
      </p:pic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1A6B4600-BF56-2AE8-D94F-0F824A184F5B}"/>
              </a:ext>
            </a:extLst>
          </p:cNvPr>
          <p:cNvCxnSpPr>
            <a:cxnSpLocks/>
          </p:cNvCxnSpPr>
          <p:nvPr/>
        </p:nvCxnSpPr>
        <p:spPr>
          <a:xfrm>
            <a:off x="1188720" y="3337560"/>
            <a:ext cx="1548729" cy="12804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955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75D93E-F855-AD09-CAFB-831AB1DB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FR" sz="3600">
                <a:solidFill>
                  <a:schemeClr val="tx2"/>
                </a:solidFill>
              </a:rPr>
              <a:t>Débrief avec les CDAN</a:t>
            </a:r>
          </a:p>
        </p:txBody>
      </p:sp>
      <p:grpSp>
        <p:nvGrpSpPr>
          <p:cNvPr id="28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815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CBF095-B864-9FB8-60EC-23248F68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FE0A3C11-DEF1-AB45-C57F-3B2C4B1D8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862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FE2F191D1ABA44A7F2E899994207DB" ma:contentTypeVersion="9" ma:contentTypeDescription="Crée un document." ma:contentTypeScope="" ma:versionID="9a4ec68c63d329634ca4428698fd24ce">
  <xsd:schema xmlns:xsd="http://www.w3.org/2001/XMLSchema" xmlns:xs="http://www.w3.org/2001/XMLSchema" xmlns:p="http://schemas.microsoft.com/office/2006/metadata/properties" xmlns:ns3="f614343e-c940-4358-94d9-5201a8698cc1" xmlns:ns4="4fb0196f-410b-40dc-b8d6-d804ee4c1d35" targetNamespace="http://schemas.microsoft.com/office/2006/metadata/properties" ma:root="true" ma:fieldsID="608477be59927ab4f7da0a5ad81fc841" ns3:_="" ns4:_="">
    <xsd:import namespace="f614343e-c940-4358-94d9-5201a8698cc1"/>
    <xsd:import namespace="4fb0196f-410b-40dc-b8d6-d804ee4c1d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4343e-c940-4358-94d9-5201a8698c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0196f-410b-40dc-b8d6-d804ee4c1d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14343e-c940-4358-94d9-5201a8698cc1" xsi:nil="true"/>
  </documentManagement>
</p:properties>
</file>

<file path=customXml/itemProps1.xml><?xml version="1.0" encoding="utf-8"?>
<ds:datastoreItem xmlns:ds="http://schemas.openxmlformats.org/officeDocument/2006/customXml" ds:itemID="{F6C3AB0D-C0B8-4D1E-9B07-EE50E6A581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4F86A0-868F-4779-9221-E7CCCADC94A1}">
  <ds:schemaRefs>
    <ds:schemaRef ds:uri="4fb0196f-410b-40dc-b8d6-d804ee4c1d35"/>
    <ds:schemaRef ds:uri="f614343e-c940-4358-94d9-5201a8698c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000111-59E9-4CA0-897E-CD859A2562AA}">
  <ds:schemaRefs>
    <ds:schemaRef ds:uri="4fb0196f-410b-40dc-b8d6-d804ee4c1d35"/>
    <ds:schemaRef ds:uri="f614343e-c940-4358-94d9-5201a8698c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882</Words>
  <Application>Microsoft Office PowerPoint</Application>
  <PresentationFormat>Grand écran</PresentationFormat>
  <Paragraphs>145</Paragraphs>
  <Slides>21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Arial,Sans-Serif</vt:lpstr>
      <vt:lpstr>Calibri</vt:lpstr>
      <vt:lpstr>Source Sans Pro</vt:lpstr>
      <vt:lpstr>Thème Office</vt:lpstr>
      <vt:lpstr>Présentation PowerPoint</vt:lpstr>
      <vt:lpstr>Sommaire</vt:lpstr>
      <vt:lpstr>Explication du Projet</vt:lpstr>
      <vt:lpstr>Présentation PowerPoint</vt:lpstr>
      <vt:lpstr>Attentes du groupe CDAN</vt:lpstr>
      <vt:lpstr>1ère Etape :</vt:lpstr>
      <vt:lpstr>2ème Etape :</vt:lpstr>
      <vt:lpstr>3ème Etape</vt:lpstr>
      <vt:lpstr>Dernière étape</vt:lpstr>
      <vt:lpstr>Petit diagramme sur l’ensemble du projet :</vt:lpstr>
      <vt:lpstr>Architecture :</vt:lpstr>
      <vt:lpstr>2 parties durant ce projet :</vt:lpstr>
      <vt:lpstr>Back end </vt:lpstr>
      <vt:lpstr>Amine</vt:lpstr>
      <vt:lpstr>Intissar</vt:lpstr>
      <vt:lpstr>Front end</vt:lpstr>
      <vt:lpstr>Lucca</vt:lpstr>
      <vt:lpstr>Quentin</vt:lpstr>
      <vt:lpstr>Application </vt:lpstr>
      <vt:lpstr>Débrief avec les CDAN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GARONNE Quentin</dc:creator>
  <cp:lastModifiedBy>GARONNE Quentin</cp:lastModifiedBy>
  <cp:revision>29</cp:revision>
  <dcterms:created xsi:type="dcterms:W3CDTF">2024-06-19T11:10:16Z</dcterms:created>
  <dcterms:modified xsi:type="dcterms:W3CDTF">2024-06-20T07:07:41Z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0x01010074FE2F191D1ABA44A7F2E899994207DB</vt:lpwstr>
  </property>
</Properties>
</file>